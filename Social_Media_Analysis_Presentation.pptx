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80" r:id="rId2"/>
    <p:sldId id="257" r:id="rId3"/>
    <p:sldId id="258" r:id="rId4"/>
    <p:sldId id="282" r:id="rId5"/>
    <p:sldId id="260" r:id="rId6"/>
    <p:sldId id="284" r:id="rId7"/>
    <p:sldId id="287" r:id="rId8"/>
    <p:sldId id="262" r:id="rId9"/>
    <p:sldId id="285" r:id="rId10"/>
    <p:sldId id="268" r:id="rId11"/>
    <p:sldId id="264" r:id="rId12"/>
    <p:sldId id="263" r:id="rId13"/>
    <p:sldId id="265" r:id="rId14"/>
    <p:sldId id="283" r:id="rId15"/>
    <p:sldId id="291" r:id="rId16"/>
    <p:sldId id="256" r:id="rId17"/>
    <p:sldId id="293" r:id="rId18"/>
    <p:sldId id="294" r:id="rId19"/>
    <p:sldId id="278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804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31333E-2843-4246-BDB4-40F7C77096F5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B72CE6-64C9-44E4-A72E-AB9BE1C61C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41975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B72CE6-64C9-44E4-A72E-AB9BE1C61CE2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17695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6341544" cy="212365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3756"/>
                </a:solidFill>
                <a:latin typeface="Aptos Display"/>
              </a:defRPr>
            </a:pPr>
            <a:r>
              <a:rPr sz="4400" dirty="0"/>
              <a:t>SOCIAL MEDIA ANALYSIS</a:t>
            </a:r>
          </a:p>
          <a:p>
            <a:pPr>
              <a:defRPr sz="2100">
                <a:solidFill>
                  <a:srgbClr val="376092"/>
                </a:solidFill>
                <a:latin typeface="Aptos"/>
              </a:defRPr>
            </a:pPr>
            <a:endParaRPr lang="en-US" sz="2400" dirty="0"/>
          </a:p>
          <a:p>
            <a:pPr>
              <a:defRPr sz="2100">
                <a:solidFill>
                  <a:srgbClr val="376092"/>
                </a:solidFill>
                <a:latin typeface="Aptos"/>
              </a:defRPr>
            </a:pPr>
            <a:r>
              <a:rPr sz="2400" dirty="0"/>
              <a:t>SQL Project</a:t>
            </a:r>
            <a:endParaRPr lang="en-US" sz="2400" dirty="0"/>
          </a:p>
          <a:p>
            <a:pPr>
              <a:defRPr sz="2100">
                <a:solidFill>
                  <a:srgbClr val="376092"/>
                </a:solidFill>
                <a:latin typeface="Aptos"/>
              </a:defRPr>
            </a:pPr>
            <a:endParaRPr sz="2400" dirty="0"/>
          </a:p>
          <a:p>
            <a:pPr>
              <a:defRPr sz="1500">
                <a:solidFill>
                  <a:srgbClr val="6E7887"/>
                </a:solidFill>
                <a:latin typeface="Aptos"/>
              </a:defRPr>
            </a:pPr>
            <a:r>
              <a:rPr sz="1600" dirty="0"/>
              <a:t>User activity • engagement • relationships • marketing insights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70779" y="4249489"/>
            <a:ext cx="2961482" cy="517720"/>
          </a:xfrm>
          <a:prstGeom prst="roundRect">
            <a:avLst/>
          </a:prstGeom>
          <a:solidFill>
            <a:srgbClr val="F5F7FA"/>
          </a:solidFill>
          <a:ln>
            <a:solidFill>
              <a:srgbClr val="E1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300">
                <a:solidFill>
                  <a:srgbClr val="232830"/>
                </a:solidFill>
                <a:latin typeface="Aptos"/>
              </a:defRPr>
            </a:pPr>
            <a:r>
              <a:rPr lang="en-US" sz="1400" dirty="0"/>
              <a:t>Submitted By: Hiteshi Aglawe</a:t>
            </a:r>
            <a:endParaRPr sz="1400" dirty="0"/>
          </a:p>
        </p:txBody>
      </p:sp>
      <p:sp>
        <p:nvSpPr>
          <p:cNvPr id="5" name="Rectangle 4"/>
          <p:cNvSpPr/>
          <p:nvPr/>
        </p:nvSpPr>
        <p:spPr>
          <a:xfrm>
            <a:off x="870779" y="4249489"/>
            <a:ext cx="45719" cy="517720"/>
          </a:xfrm>
          <a:prstGeom prst="rect">
            <a:avLst/>
          </a:prstGeom>
          <a:solidFill>
            <a:srgbClr val="1F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6" name="Can 2"/>
          <p:cNvSpPr/>
          <p:nvPr/>
        </p:nvSpPr>
        <p:spPr>
          <a:xfrm>
            <a:off x="8501530" y="1344168"/>
            <a:ext cx="2519532" cy="3134132"/>
          </a:xfrm>
          <a:prstGeom prst="can">
            <a:avLst/>
          </a:prstGeom>
          <a:solidFill>
            <a:srgbClr val="E0F1F7"/>
          </a:solidFill>
          <a:ln>
            <a:solidFill>
              <a:srgbClr val="237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8" name="Rectangle 7"/>
          <p:cNvSpPr/>
          <p:nvPr/>
        </p:nvSpPr>
        <p:spPr>
          <a:xfrm>
            <a:off x="9179009" y="4050211"/>
            <a:ext cx="335938" cy="641072"/>
          </a:xfrm>
          <a:prstGeom prst="rect">
            <a:avLst/>
          </a:prstGeom>
          <a:solidFill>
            <a:srgbClr val="237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9" name="Rectangle 8"/>
          <p:cNvSpPr/>
          <p:nvPr/>
        </p:nvSpPr>
        <p:spPr>
          <a:xfrm>
            <a:off x="9590488" y="3775892"/>
            <a:ext cx="335938" cy="915391"/>
          </a:xfrm>
          <a:prstGeom prst="rect">
            <a:avLst/>
          </a:prstGeom>
          <a:solidFill>
            <a:srgbClr val="237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0" name="Rectangle 9"/>
          <p:cNvSpPr/>
          <p:nvPr/>
        </p:nvSpPr>
        <p:spPr>
          <a:xfrm>
            <a:off x="10001969" y="3501571"/>
            <a:ext cx="335938" cy="1189712"/>
          </a:xfrm>
          <a:prstGeom prst="rect">
            <a:avLst/>
          </a:prstGeom>
          <a:solidFill>
            <a:srgbClr val="237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237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3" name="TextBox 2"/>
          <p:cNvSpPr txBox="1"/>
          <p:nvPr/>
        </p:nvSpPr>
        <p:spPr>
          <a:xfrm>
            <a:off x="697101" y="751946"/>
            <a:ext cx="1817164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32B34"/>
                </a:solidFill>
                <a:latin typeface="Aptos Display"/>
              </a:defRPr>
            </a:pPr>
            <a:r>
              <a:rPr sz="4000"/>
              <a:t>Agenda</a:t>
            </a:r>
          </a:p>
        </p:txBody>
      </p:sp>
      <p:sp>
        <p:nvSpPr>
          <p:cNvPr id="5" name="Oval 4"/>
          <p:cNvSpPr/>
          <p:nvPr/>
        </p:nvSpPr>
        <p:spPr>
          <a:xfrm>
            <a:off x="785076" y="2392673"/>
            <a:ext cx="502920" cy="502920"/>
          </a:xfrm>
          <a:prstGeom prst="ellipse">
            <a:avLst/>
          </a:prstGeom>
          <a:solidFill>
            <a:srgbClr val="E0F1F7"/>
          </a:solidFill>
          <a:ln>
            <a:solidFill>
              <a:srgbClr val="237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6" name="TextBox 5"/>
          <p:cNvSpPr txBox="1"/>
          <p:nvPr/>
        </p:nvSpPr>
        <p:spPr>
          <a:xfrm>
            <a:off x="892105" y="2456681"/>
            <a:ext cx="288862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237BA0"/>
                </a:solidFill>
                <a:latin typeface="Aptos Display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9436" y="2410961"/>
            <a:ext cx="2538259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32B34"/>
                </a:solidFill>
                <a:latin typeface="Aptos"/>
              </a:defRPr>
            </a:pPr>
            <a:r>
              <a:rPr sz="1600"/>
              <a:t>Business problem &amp; scope</a:t>
            </a:r>
          </a:p>
        </p:txBody>
      </p:sp>
      <p:sp>
        <p:nvSpPr>
          <p:cNvPr id="8" name="Oval 7"/>
          <p:cNvSpPr/>
          <p:nvPr/>
        </p:nvSpPr>
        <p:spPr>
          <a:xfrm>
            <a:off x="785076" y="3261353"/>
            <a:ext cx="502920" cy="502920"/>
          </a:xfrm>
          <a:prstGeom prst="ellipse">
            <a:avLst/>
          </a:prstGeom>
          <a:solidFill>
            <a:srgbClr val="E0F1F7"/>
          </a:solidFill>
          <a:ln>
            <a:solidFill>
              <a:srgbClr val="237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9" name="TextBox 8"/>
          <p:cNvSpPr txBox="1"/>
          <p:nvPr/>
        </p:nvSpPr>
        <p:spPr>
          <a:xfrm>
            <a:off x="892105" y="3325360"/>
            <a:ext cx="288862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237BA0"/>
                </a:solidFill>
                <a:latin typeface="Aptos Display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5025" y="3357273"/>
            <a:ext cx="3351751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32B34"/>
                </a:solidFill>
                <a:latin typeface="Aptos"/>
              </a:defRPr>
            </a:pPr>
            <a:r>
              <a:rPr sz="1600" dirty="0"/>
              <a:t>Data landscape </a:t>
            </a:r>
            <a:r>
              <a:rPr lang="en-US" sz="1600" dirty="0"/>
              <a:t>/ Database Schema</a:t>
            </a:r>
            <a:endParaRPr sz="1600" dirty="0"/>
          </a:p>
        </p:txBody>
      </p:sp>
      <p:sp>
        <p:nvSpPr>
          <p:cNvPr id="11" name="Oval 10"/>
          <p:cNvSpPr/>
          <p:nvPr/>
        </p:nvSpPr>
        <p:spPr>
          <a:xfrm>
            <a:off x="6154256" y="2377553"/>
            <a:ext cx="502920" cy="502920"/>
          </a:xfrm>
          <a:prstGeom prst="ellipse">
            <a:avLst/>
          </a:prstGeom>
          <a:solidFill>
            <a:srgbClr val="E0F1F7"/>
          </a:solidFill>
          <a:ln>
            <a:solidFill>
              <a:srgbClr val="237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2" name="TextBox 11"/>
          <p:cNvSpPr txBox="1"/>
          <p:nvPr/>
        </p:nvSpPr>
        <p:spPr>
          <a:xfrm>
            <a:off x="6261285" y="2441561"/>
            <a:ext cx="288862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237BA0"/>
                </a:solidFill>
                <a:latin typeface="Aptos Display"/>
              </a:defRPr>
            </a:pPr>
            <a:r>
              <a:rPr lang="en-US" dirty="0"/>
              <a:t>4</a:t>
            </a:r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6706133" y="2441561"/>
            <a:ext cx="312059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32B34"/>
                </a:solidFill>
                <a:latin typeface="Aptos"/>
              </a:defRPr>
            </a:pPr>
            <a:r>
              <a:rPr sz="1600" dirty="0"/>
              <a:t>Objective</a:t>
            </a:r>
            <a:r>
              <a:rPr lang="en-US" sz="1600" dirty="0"/>
              <a:t> and Subjective</a:t>
            </a:r>
            <a:r>
              <a:rPr sz="1600" dirty="0"/>
              <a:t> findings</a:t>
            </a:r>
          </a:p>
        </p:txBody>
      </p:sp>
      <p:sp>
        <p:nvSpPr>
          <p:cNvPr id="14" name="Oval 13"/>
          <p:cNvSpPr/>
          <p:nvPr/>
        </p:nvSpPr>
        <p:spPr>
          <a:xfrm>
            <a:off x="6154256" y="3259183"/>
            <a:ext cx="502920" cy="502920"/>
          </a:xfrm>
          <a:prstGeom prst="ellipse">
            <a:avLst/>
          </a:prstGeom>
          <a:solidFill>
            <a:srgbClr val="E0F1F7"/>
          </a:solidFill>
          <a:ln>
            <a:solidFill>
              <a:srgbClr val="237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5" name="TextBox 14"/>
          <p:cNvSpPr txBox="1"/>
          <p:nvPr/>
        </p:nvSpPr>
        <p:spPr>
          <a:xfrm>
            <a:off x="6261285" y="3323191"/>
            <a:ext cx="288862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237BA0"/>
                </a:solidFill>
                <a:latin typeface="Aptos Display"/>
              </a:defRPr>
            </a:pPr>
            <a:r>
              <a:rPr lang="en-US" dirty="0"/>
              <a:t>5</a:t>
            </a:r>
            <a:endParaRPr dirty="0"/>
          </a:p>
        </p:txBody>
      </p:sp>
      <p:sp>
        <p:nvSpPr>
          <p:cNvPr id="16" name="TextBox 15"/>
          <p:cNvSpPr txBox="1"/>
          <p:nvPr/>
        </p:nvSpPr>
        <p:spPr>
          <a:xfrm>
            <a:off x="6706133" y="3323191"/>
            <a:ext cx="2905924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32B34"/>
                </a:solidFill>
                <a:latin typeface="Aptos"/>
              </a:defRPr>
            </a:pPr>
            <a:r>
              <a:rPr lang="en-US" sz="1600" dirty="0"/>
              <a:t>M</a:t>
            </a:r>
            <a:r>
              <a:rPr sz="1600" dirty="0"/>
              <a:t>arketing </a:t>
            </a:r>
            <a:r>
              <a:rPr lang="en-US" sz="1600" dirty="0"/>
              <a:t>Strategy and A</a:t>
            </a:r>
            <a:r>
              <a:rPr sz="1600" dirty="0"/>
              <a:t>ctions</a:t>
            </a:r>
          </a:p>
        </p:txBody>
      </p:sp>
      <p:sp>
        <p:nvSpPr>
          <p:cNvPr id="17" name="Oval 16"/>
          <p:cNvSpPr/>
          <p:nvPr/>
        </p:nvSpPr>
        <p:spPr>
          <a:xfrm>
            <a:off x="6154256" y="4200246"/>
            <a:ext cx="502920" cy="502920"/>
          </a:xfrm>
          <a:prstGeom prst="ellipse">
            <a:avLst/>
          </a:prstGeom>
          <a:solidFill>
            <a:srgbClr val="E0F1F7"/>
          </a:solidFill>
          <a:ln>
            <a:solidFill>
              <a:srgbClr val="237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8" name="TextBox 17"/>
          <p:cNvSpPr txBox="1"/>
          <p:nvPr/>
        </p:nvSpPr>
        <p:spPr>
          <a:xfrm>
            <a:off x="6261285" y="4264254"/>
            <a:ext cx="288862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237BA0"/>
                </a:solidFill>
                <a:latin typeface="Aptos Display"/>
              </a:defRPr>
            </a:pPr>
            <a:r>
              <a:rPr lang="en-US" dirty="0"/>
              <a:t>6</a:t>
            </a:r>
            <a:endParaRPr dirty="0"/>
          </a:p>
        </p:txBody>
      </p:sp>
      <p:sp>
        <p:nvSpPr>
          <p:cNvPr id="19" name="TextBox 18"/>
          <p:cNvSpPr txBox="1"/>
          <p:nvPr/>
        </p:nvSpPr>
        <p:spPr>
          <a:xfrm>
            <a:off x="6706133" y="4264254"/>
            <a:ext cx="2378152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32B34"/>
                </a:solidFill>
                <a:latin typeface="Aptos"/>
              </a:defRPr>
            </a:pPr>
            <a:r>
              <a:rPr sz="1600" dirty="0"/>
              <a:t>Limitations &amp; conclusion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69992" y="6537960"/>
            <a:ext cx="260008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C6772"/>
                </a:solidFill>
                <a:latin typeface="Aptos"/>
              </a:defRPr>
            </a:pPr>
            <a:r>
              <a:rPr sz="1100"/>
              <a:t>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BC809BC-7D9F-79A8-487C-230DB2EE3A0A}"/>
              </a:ext>
            </a:extLst>
          </p:cNvPr>
          <p:cNvSpPr txBox="1"/>
          <p:nvPr/>
        </p:nvSpPr>
        <p:spPr>
          <a:xfrm>
            <a:off x="1434414" y="4303586"/>
            <a:ext cx="2757101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>
              <a:defRPr sz="1600">
                <a:solidFill>
                  <a:srgbClr val="232B34"/>
                </a:solidFill>
                <a:latin typeface="Aptos"/>
              </a:defRPr>
            </a:lvl1pPr>
          </a:lstStyle>
          <a:p>
            <a:r>
              <a:rPr lang="en-IN" dirty="0">
                <a:sym typeface="Arial"/>
              </a:rPr>
              <a:t>Key Metrics and Visualization</a:t>
            </a: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659C6450-9B23-FFA6-D352-D70198137FD2}"/>
              </a:ext>
            </a:extLst>
          </p:cNvPr>
          <p:cNvSpPr/>
          <p:nvPr/>
        </p:nvSpPr>
        <p:spPr>
          <a:xfrm>
            <a:off x="834033" y="4181406"/>
            <a:ext cx="502920" cy="502920"/>
          </a:xfrm>
          <a:prstGeom prst="ellipse">
            <a:avLst/>
          </a:prstGeom>
          <a:solidFill>
            <a:srgbClr val="E0F1F7"/>
          </a:solidFill>
          <a:ln>
            <a:solidFill>
              <a:srgbClr val="237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AC699E8-B1BE-39DA-B93E-D2C51D4416B7}"/>
              </a:ext>
            </a:extLst>
          </p:cNvPr>
          <p:cNvSpPr txBox="1"/>
          <p:nvPr/>
        </p:nvSpPr>
        <p:spPr>
          <a:xfrm>
            <a:off x="941061" y="4245413"/>
            <a:ext cx="288862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237BA0"/>
                </a:solidFill>
                <a:latin typeface="Aptos Display"/>
              </a:defRPr>
            </a:pPr>
            <a:r>
              <a:rPr lang="en-US" dirty="0"/>
              <a:t>3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237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4098045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32B34"/>
                </a:solidFill>
                <a:latin typeface="Aptos Display"/>
              </a:defRPr>
            </a:pPr>
            <a:r>
              <a:rPr lang="en-US" sz="3600" dirty="0"/>
              <a:t>Problem Statement </a:t>
            </a:r>
            <a:endParaRPr sz="3600" dirty="0"/>
          </a:p>
        </p:txBody>
      </p:sp>
      <p:sp>
        <p:nvSpPr>
          <p:cNvPr id="4" name="Rounded Rectangle 3"/>
          <p:cNvSpPr/>
          <p:nvPr/>
        </p:nvSpPr>
        <p:spPr>
          <a:xfrm>
            <a:off x="685800" y="1234440"/>
            <a:ext cx="6903720" cy="1828800"/>
          </a:xfrm>
          <a:prstGeom prst="roundRect">
            <a:avLst/>
          </a:prstGeom>
          <a:solidFill>
            <a:srgbClr val="F2F5F7"/>
          </a:solidFill>
          <a:ln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5" name="TextBox 4"/>
          <p:cNvSpPr txBox="1"/>
          <p:nvPr/>
        </p:nvSpPr>
        <p:spPr>
          <a:xfrm>
            <a:off x="850392" y="1344168"/>
            <a:ext cx="1642757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37BA0"/>
                </a:solidFill>
                <a:latin typeface="Aptos"/>
              </a:defRPr>
            </a:pPr>
            <a:r>
              <a:t>Problem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" y="1673352"/>
            <a:ext cx="6574536" cy="11285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232B34"/>
                </a:solidFill>
                <a:latin typeface="Aptos"/>
              </a:defRPr>
            </a:pPr>
            <a:r>
              <a:rPr sz="1600"/>
              <a:t>The marketing team wants to use Instagram user data to increase engagement, retention and acquisition.</a:t>
            </a:r>
          </a:p>
          <a:p>
            <a:pPr>
              <a:spcAft>
                <a:spcPts val="400"/>
              </a:spcAft>
              <a:defRPr sz="1150">
                <a:solidFill>
                  <a:srgbClr val="232B34"/>
                </a:solidFill>
                <a:latin typeface="Aptos"/>
              </a:defRPr>
            </a:pPr>
            <a:r>
              <a:rPr sz="1600"/>
              <a:t>The analysis translates SQL findings into actionable audience, creator and content strategies.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18120" y="1234440"/>
            <a:ext cx="3657600" cy="1828800"/>
          </a:xfrm>
          <a:prstGeom prst="roundRect">
            <a:avLst/>
          </a:prstGeom>
          <a:solidFill>
            <a:srgbClr val="F2F5F7"/>
          </a:solidFill>
          <a:ln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8" name="TextBox 7"/>
          <p:cNvSpPr txBox="1"/>
          <p:nvPr/>
        </p:nvSpPr>
        <p:spPr>
          <a:xfrm>
            <a:off x="7982712" y="1344168"/>
            <a:ext cx="1697260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428768"/>
                </a:solidFill>
                <a:latin typeface="Aptos"/>
              </a:defRPr>
            </a:pPr>
            <a:r>
              <a:t>Tools &amp; deliverables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82712" y="1673352"/>
            <a:ext cx="3328416" cy="8822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232B34"/>
                </a:solidFill>
                <a:latin typeface="Aptos"/>
              </a:defRPr>
            </a:pPr>
            <a:r>
              <a:rPr sz="1600" dirty="0"/>
              <a:t>Microsoft SQL Server / SSMS</a:t>
            </a:r>
          </a:p>
          <a:p>
            <a:pPr>
              <a:spcAft>
                <a:spcPts val="400"/>
              </a:spcAft>
              <a:defRPr sz="1150">
                <a:solidFill>
                  <a:srgbClr val="232B34"/>
                </a:solidFill>
                <a:latin typeface="Aptos"/>
              </a:defRPr>
            </a:pPr>
            <a:r>
              <a:rPr sz="1600" dirty="0"/>
              <a:t>Word documentation + management presentation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429000"/>
            <a:ext cx="10789920" cy="1965960"/>
          </a:xfrm>
          <a:prstGeom prst="roundRect">
            <a:avLst/>
          </a:prstGeom>
          <a:solidFill>
            <a:srgbClr val="F2F5F7"/>
          </a:solidFill>
          <a:ln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1" name="TextBox 10"/>
          <p:cNvSpPr txBox="1"/>
          <p:nvPr/>
        </p:nvSpPr>
        <p:spPr>
          <a:xfrm>
            <a:off x="850392" y="3538728"/>
            <a:ext cx="2254271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37BA0"/>
                </a:solidFill>
                <a:latin typeface="Aptos"/>
              </a:defRPr>
            </a:pPr>
            <a:r>
              <a:t>Analysis questions covered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3867912"/>
            <a:ext cx="10460736" cy="142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232B34"/>
                </a:solidFill>
                <a:latin typeface="Aptos"/>
              </a:defRPr>
            </a:pPr>
            <a:r>
              <a:rPr sz="1600"/>
              <a:t>Objective: 13 questions covering data quality, activity, engagement, network behaviour, tags and monthly engagement.</a:t>
            </a:r>
          </a:p>
          <a:p>
            <a:pPr>
              <a:spcAft>
                <a:spcPts val="400"/>
              </a:spcAft>
              <a:defRPr sz="1150">
                <a:solidFill>
                  <a:srgbClr val="232B34"/>
                </a:solidFill>
                <a:latin typeface="Aptos"/>
              </a:defRPr>
            </a:pPr>
            <a:r>
              <a:rPr sz="1600"/>
              <a:t>Subjective: 10 questions covering retention, influencers, segmentation, advertising, ambassadors and analytical approach.</a:t>
            </a:r>
          </a:p>
          <a:p>
            <a:pPr>
              <a:spcAft>
                <a:spcPts val="400"/>
              </a:spcAft>
              <a:defRPr sz="1150">
                <a:solidFill>
                  <a:srgbClr val="232B34"/>
                </a:solidFill>
                <a:latin typeface="Aptos"/>
              </a:defRPr>
            </a:pPr>
            <a:r>
              <a:rPr sz="1600"/>
              <a:t>The presentation emphasizes findings and business implications rather than reproducing the full report.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73198" y="6537960"/>
            <a:ext cx="256802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C6772"/>
                </a:solidFill>
                <a:latin typeface="Aptos"/>
              </a:defRPr>
            </a:pPr>
            <a:r>
              <a:rPr sz="1050"/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44305"/>
            <a:ext cx="12191999" cy="106950"/>
          </a:xfrm>
          <a:prstGeom prst="rect">
            <a:avLst/>
          </a:prstGeom>
          <a:solidFill>
            <a:srgbClr val="1F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515884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>
              <a:defRPr sz="3600" b="1">
                <a:solidFill>
                  <a:srgbClr val="232B34"/>
                </a:solidFill>
                <a:latin typeface="Aptos Display"/>
              </a:defRPr>
            </a:lvl1pPr>
          </a:lstStyle>
          <a:p>
            <a:r>
              <a:rPr sz="2800" dirty="0"/>
              <a:t>Data landscape | 7 related tables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964569"/>
            <a:ext cx="3041674" cy="598673"/>
          </a:xfrm>
          <a:prstGeom prst="roundRect">
            <a:avLst/>
          </a:prstGeom>
          <a:solidFill>
            <a:srgbClr val="F5F7FA"/>
          </a:solidFill>
          <a:ln>
            <a:solidFill>
              <a:srgbClr val="E1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>
                <a:solidFill>
                  <a:srgbClr val="232830"/>
                </a:solidFill>
                <a:latin typeface="Aptos"/>
              </a:defRPr>
            </a:pPr>
            <a:r>
              <a:rPr b="1" u="sng" dirty="0"/>
              <a:t>users</a:t>
            </a:r>
            <a:br>
              <a:rPr dirty="0"/>
            </a:br>
            <a:r>
              <a:rPr dirty="0"/>
              <a:t>Identity &amp; registration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964569"/>
            <a:ext cx="45719" cy="598673"/>
          </a:xfrm>
          <a:prstGeom prst="rect">
            <a:avLst/>
          </a:prstGeom>
          <a:solidFill>
            <a:srgbClr val="3760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94360" y="4024530"/>
            <a:ext cx="3041674" cy="598673"/>
          </a:xfrm>
          <a:prstGeom prst="roundRect">
            <a:avLst/>
          </a:prstGeom>
          <a:solidFill>
            <a:srgbClr val="F5F7FA"/>
          </a:solidFill>
          <a:ln>
            <a:solidFill>
              <a:srgbClr val="E1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>
                <a:solidFill>
                  <a:srgbClr val="232830"/>
                </a:solidFill>
                <a:latin typeface="Aptos"/>
              </a:defRPr>
            </a:pPr>
            <a:r>
              <a:rPr b="1" u="sng" dirty="0"/>
              <a:t>photos</a:t>
            </a:r>
            <a:br>
              <a:rPr dirty="0"/>
            </a:br>
            <a:r>
              <a:rPr dirty="0"/>
              <a:t>Posts created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4024530"/>
            <a:ext cx="45719" cy="598673"/>
          </a:xfrm>
          <a:prstGeom prst="rect">
            <a:avLst/>
          </a:prstGeom>
          <a:solidFill>
            <a:srgbClr val="3760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94360" y="1691776"/>
            <a:ext cx="3041674" cy="598673"/>
          </a:xfrm>
          <a:prstGeom prst="roundRect">
            <a:avLst/>
          </a:prstGeom>
          <a:solidFill>
            <a:srgbClr val="F5F7FA"/>
          </a:solidFill>
          <a:ln>
            <a:solidFill>
              <a:srgbClr val="E1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>
                <a:solidFill>
                  <a:srgbClr val="232830"/>
                </a:solidFill>
                <a:latin typeface="Aptos"/>
              </a:defRPr>
            </a:pPr>
            <a:r>
              <a:rPr b="1" u="sng" dirty="0"/>
              <a:t>comments</a:t>
            </a:r>
            <a:br>
              <a:rPr dirty="0"/>
            </a:br>
            <a:r>
              <a:rPr dirty="0" err="1"/>
              <a:t>Comments</a:t>
            </a:r>
            <a:endParaRPr dirty="0"/>
          </a:p>
        </p:txBody>
      </p:sp>
      <p:sp>
        <p:nvSpPr>
          <p:cNvPr id="9" name="Rectangle 8"/>
          <p:cNvSpPr/>
          <p:nvPr/>
        </p:nvSpPr>
        <p:spPr>
          <a:xfrm>
            <a:off x="594360" y="1691776"/>
            <a:ext cx="45719" cy="598673"/>
          </a:xfrm>
          <a:prstGeom prst="rect">
            <a:avLst/>
          </a:prstGeom>
          <a:solidFill>
            <a:srgbClr val="3760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94360" y="4802034"/>
            <a:ext cx="3041674" cy="598673"/>
          </a:xfrm>
          <a:prstGeom prst="roundRect">
            <a:avLst/>
          </a:prstGeom>
          <a:solidFill>
            <a:srgbClr val="F5F7FA"/>
          </a:solidFill>
          <a:ln>
            <a:solidFill>
              <a:srgbClr val="E1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>
                <a:solidFill>
                  <a:srgbClr val="232830"/>
                </a:solidFill>
                <a:latin typeface="Aptos"/>
              </a:defRPr>
            </a:pPr>
            <a:r>
              <a:rPr b="1" u="sng" dirty="0"/>
              <a:t>likes</a:t>
            </a:r>
            <a:br>
              <a:rPr dirty="0"/>
            </a:br>
            <a:r>
              <a:rPr dirty="0" err="1"/>
              <a:t>Likes</a:t>
            </a:r>
            <a:r>
              <a:rPr dirty="0"/>
              <a:t> given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4802034"/>
            <a:ext cx="45719" cy="598673"/>
          </a:xfrm>
          <a:prstGeom prst="rect">
            <a:avLst/>
          </a:prstGeom>
          <a:solidFill>
            <a:srgbClr val="3760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94360" y="2498604"/>
            <a:ext cx="3041674" cy="598673"/>
          </a:xfrm>
          <a:prstGeom prst="roundRect">
            <a:avLst/>
          </a:prstGeom>
          <a:solidFill>
            <a:srgbClr val="F5F7FA"/>
          </a:solidFill>
          <a:ln>
            <a:solidFill>
              <a:srgbClr val="E1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>
                <a:solidFill>
                  <a:srgbClr val="232830"/>
                </a:solidFill>
                <a:latin typeface="Aptos"/>
              </a:defRPr>
            </a:pPr>
            <a:r>
              <a:rPr b="1" u="sng" dirty="0"/>
              <a:t>follows</a:t>
            </a:r>
            <a:br>
              <a:rPr dirty="0"/>
            </a:br>
            <a:r>
              <a:rPr dirty="0"/>
              <a:t>Follower/</a:t>
            </a:r>
            <a:r>
              <a:rPr dirty="0" err="1"/>
              <a:t>followee</a:t>
            </a:r>
            <a:r>
              <a:rPr dirty="0"/>
              <a:t> network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2498604"/>
            <a:ext cx="45719" cy="598673"/>
          </a:xfrm>
          <a:prstGeom prst="rect">
            <a:avLst/>
          </a:prstGeom>
          <a:solidFill>
            <a:srgbClr val="468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94360" y="5594094"/>
            <a:ext cx="3041674" cy="598673"/>
          </a:xfrm>
          <a:prstGeom prst="roundRect">
            <a:avLst/>
          </a:prstGeom>
          <a:solidFill>
            <a:srgbClr val="F5F7FA"/>
          </a:solidFill>
          <a:ln>
            <a:solidFill>
              <a:srgbClr val="E1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>
                <a:solidFill>
                  <a:srgbClr val="232830"/>
                </a:solidFill>
                <a:latin typeface="Aptos"/>
              </a:defRPr>
            </a:pPr>
            <a:r>
              <a:rPr b="1" u="sng" dirty="0"/>
              <a:t>tags</a:t>
            </a:r>
            <a:br>
              <a:rPr dirty="0"/>
            </a:br>
            <a:r>
              <a:rPr dirty="0"/>
              <a:t>Unique tags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5594094"/>
            <a:ext cx="45719" cy="598673"/>
          </a:xfrm>
          <a:prstGeom prst="rect">
            <a:avLst/>
          </a:prstGeom>
          <a:solidFill>
            <a:srgbClr val="468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94360" y="3268037"/>
            <a:ext cx="3041674" cy="598673"/>
          </a:xfrm>
          <a:prstGeom prst="roundRect">
            <a:avLst/>
          </a:prstGeom>
          <a:solidFill>
            <a:srgbClr val="F5F7FA"/>
          </a:solidFill>
          <a:ln>
            <a:solidFill>
              <a:srgbClr val="E1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>
                <a:solidFill>
                  <a:srgbClr val="232830"/>
                </a:solidFill>
                <a:latin typeface="Aptos"/>
              </a:defRPr>
            </a:pPr>
            <a:r>
              <a:rPr b="1" u="sng" dirty="0" err="1"/>
              <a:t>photo</a:t>
            </a:r>
            <a:r>
              <a:rPr u="sng" dirty="0" err="1"/>
              <a:t>_</a:t>
            </a:r>
            <a:r>
              <a:rPr b="1" u="sng" dirty="0" err="1"/>
              <a:t>tags</a:t>
            </a:r>
            <a:br>
              <a:rPr dirty="0"/>
            </a:br>
            <a:r>
              <a:rPr dirty="0"/>
              <a:t>Photo–tag bridge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3268037"/>
            <a:ext cx="45719" cy="598673"/>
          </a:xfrm>
          <a:prstGeom prst="rect">
            <a:avLst/>
          </a:prstGeom>
          <a:solidFill>
            <a:srgbClr val="468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DDFEE38A-3F06-5D8A-B0E7-CEFAF66093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0697" y="964570"/>
            <a:ext cx="7444028" cy="5259458"/>
          </a:xfrm>
          <a:prstGeom prst="rect">
            <a:avLst/>
          </a:prstGeom>
          <a:solidFill>
            <a:srgbClr val="F5F7FA"/>
          </a:solidFill>
          <a:ln>
            <a:solidFill>
              <a:srgbClr val="E1E4E9"/>
            </a:solidFill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237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361926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32B34"/>
                </a:solidFill>
                <a:latin typeface="Aptos Display"/>
              </a:defRPr>
            </a:pPr>
            <a:r>
              <a:rPr sz="3200" dirty="0"/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58952"/>
            <a:ext cx="4644348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C6772"/>
                </a:solidFill>
                <a:latin typeface="Aptos"/>
              </a:defRPr>
            </a:pPr>
            <a:r>
              <a:rPr sz="1400"/>
              <a:t>Key facts from the SQL data and the documented analysis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234440"/>
            <a:ext cx="3383280" cy="1097280"/>
          </a:xfrm>
          <a:prstGeom prst="roundRect">
            <a:avLst/>
          </a:prstGeom>
          <a:solidFill>
            <a:srgbClr val="F2F5F7"/>
          </a:solidFill>
          <a:ln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" name="TextBox 5"/>
          <p:cNvSpPr txBox="1"/>
          <p:nvPr/>
        </p:nvSpPr>
        <p:spPr>
          <a:xfrm>
            <a:off x="850392" y="1353312"/>
            <a:ext cx="848309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237BA0"/>
                </a:solidFill>
                <a:latin typeface="Aptos Display"/>
              </a:defRPr>
            </a:pPr>
            <a:r>
              <a:rPr sz="3200"/>
              <a:t>100</a:t>
            </a:r>
          </a:p>
          <a:p>
            <a:pPr>
              <a:defRPr sz="1050" b="1">
                <a:solidFill>
                  <a:srgbClr val="232B34"/>
                </a:solidFill>
                <a:latin typeface="Aptos"/>
              </a:defRPr>
            </a:pPr>
            <a:r>
              <a:rPr sz="1200"/>
              <a:t>users</a:t>
            </a:r>
          </a:p>
          <a:p>
            <a:pPr>
              <a:defRPr sz="850">
                <a:solidFill>
                  <a:srgbClr val="5C6772"/>
                </a:solidFill>
                <a:latin typeface="Aptos"/>
              </a:defRPr>
            </a:pPr>
            <a:r>
              <a:rPr sz="1000"/>
              <a:t>base size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234440"/>
            <a:ext cx="3383280" cy="1097280"/>
          </a:xfrm>
          <a:prstGeom prst="roundRect">
            <a:avLst/>
          </a:prstGeom>
          <a:solidFill>
            <a:srgbClr val="F2F5F7"/>
          </a:solidFill>
          <a:ln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8" name="TextBox 7"/>
          <p:cNvSpPr txBox="1"/>
          <p:nvPr/>
        </p:nvSpPr>
        <p:spPr>
          <a:xfrm>
            <a:off x="4553712" y="1353312"/>
            <a:ext cx="1069524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237BA0"/>
                </a:solidFill>
                <a:latin typeface="Aptos Display"/>
              </a:defRPr>
            </a:pPr>
            <a:r>
              <a:rPr sz="3200"/>
              <a:t>257</a:t>
            </a:r>
          </a:p>
          <a:p>
            <a:pPr>
              <a:defRPr sz="1050" b="1">
                <a:solidFill>
                  <a:srgbClr val="232B34"/>
                </a:solidFill>
                <a:latin typeface="Aptos"/>
              </a:defRPr>
            </a:pPr>
            <a:r>
              <a:rPr sz="1200"/>
              <a:t>photos</a:t>
            </a:r>
          </a:p>
          <a:p>
            <a:pPr>
              <a:defRPr sz="850">
                <a:solidFill>
                  <a:srgbClr val="5C6772"/>
                </a:solidFill>
                <a:latin typeface="Aptos"/>
              </a:defRPr>
            </a:pPr>
            <a:r>
              <a:rPr sz="1000"/>
              <a:t>posts in dataset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40" y="1234440"/>
            <a:ext cx="3383280" cy="1097280"/>
          </a:xfrm>
          <a:prstGeom prst="roundRect">
            <a:avLst/>
          </a:prstGeom>
          <a:solidFill>
            <a:srgbClr val="F2F5F7"/>
          </a:solidFill>
          <a:ln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0" name="TextBox 9"/>
          <p:cNvSpPr txBox="1"/>
          <p:nvPr/>
        </p:nvSpPr>
        <p:spPr>
          <a:xfrm>
            <a:off x="8257031" y="1353312"/>
            <a:ext cx="1176925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237BA0"/>
                </a:solidFill>
                <a:latin typeface="Aptos Display"/>
              </a:defRPr>
            </a:pPr>
            <a:r>
              <a:rPr sz="3200"/>
              <a:t>8,782</a:t>
            </a:r>
          </a:p>
          <a:p>
            <a:pPr>
              <a:defRPr sz="1050" b="1">
                <a:solidFill>
                  <a:srgbClr val="232B34"/>
                </a:solidFill>
                <a:latin typeface="Aptos"/>
              </a:defRPr>
            </a:pPr>
            <a:r>
              <a:rPr sz="1200"/>
              <a:t>likes</a:t>
            </a:r>
          </a:p>
          <a:p>
            <a:pPr>
              <a:defRPr sz="850">
                <a:solidFill>
                  <a:srgbClr val="5C6772"/>
                </a:solidFill>
                <a:latin typeface="Aptos"/>
              </a:defRPr>
            </a:pPr>
            <a:r>
              <a:rPr sz="1000"/>
              <a:t>total like records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651760"/>
            <a:ext cx="3383280" cy="1097280"/>
          </a:xfrm>
          <a:prstGeom prst="roundRect">
            <a:avLst/>
          </a:prstGeom>
          <a:solidFill>
            <a:srgbClr val="F2F5F7"/>
          </a:solidFill>
          <a:ln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2" name="TextBox 11"/>
          <p:cNvSpPr txBox="1"/>
          <p:nvPr/>
        </p:nvSpPr>
        <p:spPr>
          <a:xfrm>
            <a:off x="850392" y="2770632"/>
            <a:ext cx="1454244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237BA0"/>
                </a:solidFill>
                <a:latin typeface="Aptos Display"/>
              </a:defRPr>
            </a:pPr>
            <a:r>
              <a:rPr sz="3200"/>
              <a:t>7,488</a:t>
            </a:r>
          </a:p>
          <a:p>
            <a:pPr>
              <a:defRPr sz="1050" b="1">
                <a:solidFill>
                  <a:srgbClr val="232B34"/>
                </a:solidFill>
                <a:latin typeface="Aptos"/>
              </a:defRPr>
            </a:pPr>
            <a:r>
              <a:rPr sz="1200"/>
              <a:t>comments</a:t>
            </a:r>
          </a:p>
          <a:p>
            <a:pPr>
              <a:defRPr sz="850">
                <a:solidFill>
                  <a:srgbClr val="5C6772"/>
                </a:solidFill>
                <a:latin typeface="Aptos"/>
              </a:defRPr>
            </a:pPr>
            <a:r>
              <a:rPr sz="1000"/>
              <a:t>total comment records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2651760"/>
            <a:ext cx="3383280" cy="1097280"/>
          </a:xfrm>
          <a:prstGeom prst="roundRect">
            <a:avLst/>
          </a:prstGeom>
          <a:solidFill>
            <a:srgbClr val="F2F5F7"/>
          </a:solidFill>
          <a:ln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4" name="TextBox 13"/>
          <p:cNvSpPr txBox="1"/>
          <p:nvPr/>
        </p:nvSpPr>
        <p:spPr>
          <a:xfrm>
            <a:off x="4553712" y="2770632"/>
            <a:ext cx="1298753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237BA0"/>
                </a:solidFill>
                <a:latin typeface="Aptos Display"/>
              </a:defRPr>
            </a:pPr>
            <a:r>
              <a:rPr sz="3200"/>
              <a:t>7,623</a:t>
            </a:r>
          </a:p>
          <a:p>
            <a:pPr>
              <a:defRPr sz="1050" b="1">
                <a:solidFill>
                  <a:srgbClr val="232B34"/>
                </a:solidFill>
                <a:latin typeface="Aptos"/>
              </a:defRPr>
            </a:pPr>
            <a:r>
              <a:rPr sz="1200"/>
              <a:t>follows</a:t>
            </a:r>
          </a:p>
          <a:p>
            <a:pPr>
              <a:defRPr sz="850">
                <a:solidFill>
                  <a:srgbClr val="5C6772"/>
                </a:solidFill>
                <a:latin typeface="Aptos"/>
              </a:defRPr>
            </a:pPr>
            <a:r>
              <a:rPr sz="1000"/>
              <a:t>relationship records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2651760"/>
            <a:ext cx="3383280" cy="1097280"/>
          </a:xfrm>
          <a:prstGeom prst="roundRect">
            <a:avLst/>
          </a:prstGeom>
          <a:solidFill>
            <a:srgbClr val="F2F5F7"/>
          </a:solidFill>
          <a:ln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6" name="TextBox 15"/>
          <p:cNvSpPr txBox="1"/>
          <p:nvPr/>
        </p:nvSpPr>
        <p:spPr>
          <a:xfrm>
            <a:off x="8257031" y="2770632"/>
            <a:ext cx="830677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237BA0"/>
                </a:solidFill>
                <a:latin typeface="Aptos Display"/>
              </a:defRPr>
            </a:pPr>
            <a:r>
              <a:rPr sz="3200"/>
              <a:t>21</a:t>
            </a:r>
          </a:p>
          <a:p>
            <a:pPr>
              <a:defRPr sz="1050" b="1">
                <a:solidFill>
                  <a:srgbClr val="232B34"/>
                </a:solidFill>
                <a:latin typeface="Aptos"/>
              </a:defRPr>
            </a:pPr>
            <a:r>
              <a:rPr sz="1200"/>
              <a:t>tags</a:t>
            </a:r>
          </a:p>
          <a:p>
            <a:pPr>
              <a:defRPr sz="850">
                <a:solidFill>
                  <a:srgbClr val="5C6772"/>
                </a:solidFill>
                <a:latin typeface="Aptos"/>
              </a:defRPr>
            </a:pPr>
            <a:r>
              <a:rPr sz="1000"/>
              <a:t>unique tags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251960"/>
            <a:ext cx="5257800" cy="1508760"/>
          </a:xfrm>
          <a:prstGeom prst="roundRect">
            <a:avLst/>
          </a:prstGeom>
          <a:solidFill>
            <a:srgbClr val="F2F5F7"/>
          </a:solidFill>
          <a:ln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8" name="TextBox 17"/>
          <p:cNvSpPr txBox="1"/>
          <p:nvPr/>
        </p:nvSpPr>
        <p:spPr>
          <a:xfrm>
            <a:off x="850392" y="4361688"/>
            <a:ext cx="2749151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37BA0"/>
                </a:solidFill>
                <a:latin typeface="Aptos"/>
              </a:defRPr>
            </a:pPr>
            <a:r>
              <a:rPr sz="1600"/>
              <a:t>Largest engagement finding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4690872"/>
            <a:ext cx="49286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232B34"/>
                </a:solidFill>
                <a:latin typeface="Aptos"/>
              </a:defRPr>
            </a:pPr>
            <a:r>
              <a:rPr sz="1400"/>
              <a:t>Eveline95 ranks #1 with 749 total engagement = 420 likes + 329 comments received.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0" y="4251960"/>
            <a:ext cx="5349240" cy="1508760"/>
          </a:xfrm>
          <a:prstGeom prst="roundRect">
            <a:avLst/>
          </a:prstGeom>
          <a:solidFill>
            <a:srgbClr val="F2F5F7"/>
          </a:solidFill>
          <a:ln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1" name="TextBox 20"/>
          <p:cNvSpPr txBox="1"/>
          <p:nvPr/>
        </p:nvSpPr>
        <p:spPr>
          <a:xfrm>
            <a:off x="6291072" y="4361688"/>
            <a:ext cx="2370905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BE4646"/>
                </a:solidFill>
                <a:latin typeface="Aptos"/>
              </a:defRPr>
            </a:pPr>
            <a:r>
              <a:rPr sz="1600"/>
              <a:t>Largest retention signal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91072" y="4690872"/>
            <a:ext cx="502005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232B34"/>
                </a:solidFill>
                <a:latin typeface="Aptos"/>
              </a:defRPr>
            </a:pPr>
            <a:r>
              <a:rPr sz="1400"/>
              <a:t>26 users have no posts; 23 users have never liked any post; 31 users have used no tags.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0"/>
            <a:ext cx="12191695" cy="94933"/>
          </a:xfrm>
          <a:prstGeom prst="rect">
            <a:avLst/>
          </a:prstGeom>
          <a:solidFill>
            <a:srgbClr val="1F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TextBox 2"/>
          <p:cNvSpPr txBox="1"/>
          <p:nvPr/>
        </p:nvSpPr>
        <p:spPr>
          <a:xfrm>
            <a:off x="428602" y="1072208"/>
            <a:ext cx="108554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800" b="1" u="sng">
                <a:solidFill>
                  <a:srgbClr val="1F3756"/>
                </a:solidFill>
                <a:latin typeface="Aptos Display"/>
              </a:defRPr>
            </a:lvl1pPr>
          </a:lstStyle>
          <a:p>
            <a:pPr algn="ctr"/>
            <a:r>
              <a:rPr lang="en-US" sz="2400" dirty="0"/>
              <a:t>1. </a:t>
            </a:r>
            <a:r>
              <a:rPr lang="en-US" sz="2400" dirty="0">
                <a:sym typeface="Play"/>
              </a:rPr>
              <a:t>USERS ANALYSIS</a:t>
            </a:r>
            <a:endParaRPr lang="en-US" sz="2400" dirty="0"/>
          </a:p>
        </p:txBody>
      </p:sp>
      <p:pic>
        <p:nvPicPr>
          <p:cNvPr id="5" name="Picture 4" descr="activity_stat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373" y="1728604"/>
            <a:ext cx="4713819" cy="3487717"/>
          </a:xfrm>
          <a:prstGeom prst="rect">
            <a:avLst/>
          </a:prstGeom>
        </p:spPr>
      </p:pic>
      <p:pic>
        <p:nvPicPr>
          <p:cNvPr id="6" name="Picture 5" descr="joining_ye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3009" y="1728604"/>
            <a:ext cx="4168111" cy="3025213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9679615" y="2235722"/>
            <a:ext cx="1854592" cy="914400"/>
          </a:xfrm>
          <a:prstGeom prst="roundRect">
            <a:avLst/>
          </a:prstGeom>
          <a:solidFill>
            <a:srgbClr val="F5F7FA"/>
          </a:solidFill>
          <a:ln>
            <a:solidFill>
              <a:srgbClr val="E1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200" b="1" dirty="0">
                <a:solidFill>
                  <a:srgbClr val="1F3756"/>
                </a:solidFill>
                <a:latin typeface="Aptos Display"/>
              </a:rPr>
              <a:t>31</a:t>
            </a:r>
          </a:p>
          <a:p>
            <a:pPr algn="ctr"/>
            <a:r>
              <a:rPr sz="1100" dirty="0">
                <a:solidFill>
                  <a:srgbClr val="232830"/>
                </a:solidFill>
                <a:latin typeface="Aptos"/>
              </a:rPr>
              <a:t>Users with no tag usage</a:t>
            </a:r>
          </a:p>
          <a:p>
            <a:pPr algn="ctr"/>
            <a:r>
              <a:rPr sz="1000" dirty="0">
                <a:solidFill>
                  <a:srgbClr val="6E7887"/>
                </a:solidFill>
                <a:latin typeface="Aptos"/>
              </a:rPr>
              <a:t>discoverability opportunity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79615" y="3482367"/>
            <a:ext cx="1854592" cy="914400"/>
          </a:xfrm>
          <a:prstGeom prst="roundRect">
            <a:avLst/>
          </a:prstGeom>
          <a:solidFill>
            <a:srgbClr val="F5F7FA"/>
          </a:solidFill>
          <a:ln>
            <a:solidFill>
              <a:srgbClr val="E1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200" b="1">
                <a:solidFill>
                  <a:srgbClr val="1F3756"/>
                </a:solidFill>
                <a:latin typeface="Aptos Display"/>
              </a:rPr>
              <a:t>23</a:t>
            </a:r>
          </a:p>
          <a:p>
            <a:pPr algn="ctr"/>
            <a:r>
              <a:rPr sz="1100">
                <a:solidFill>
                  <a:srgbClr val="232830"/>
                </a:solidFill>
                <a:latin typeface="Aptos"/>
              </a:rPr>
              <a:t>Users who never liked</a:t>
            </a:r>
          </a:p>
          <a:p>
            <a:pPr algn="ctr"/>
            <a:r>
              <a:rPr sz="1000">
                <a:solidFill>
                  <a:srgbClr val="6E7887"/>
                </a:solidFill>
                <a:latin typeface="Aptos"/>
              </a:rPr>
              <a:t>reactivation signal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0703" y="5211543"/>
            <a:ext cx="10561320" cy="914400"/>
          </a:xfrm>
          <a:prstGeom prst="roundRect">
            <a:avLst/>
          </a:prstGeom>
          <a:solidFill>
            <a:srgbClr val="F5F7FA"/>
          </a:solidFill>
          <a:ln>
            <a:solidFill>
              <a:srgbClr val="E1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>
                <a:solidFill>
                  <a:srgbClr val="232830"/>
                </a:solidFill>
                <a:latin typeface="Aptos"/>
              </a:defRPr>
            </a:pPr>
            <a:r>
              <a:rPr sz="1600"/>
              <a:t>74 users have at least one post; 26 have no posts. The dataset therefore contains a meaningful retention/re-engagement opportunity.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0703" y="5211543"/>
            <a:ext cx="54864" cy="914400"/>
          </a:xfrm>
          <a:prstGeom prst="rect">
            <a:avLst/>
          </a:prstGeom>
          <a:solidFill>
            <a:srgbClr val="BE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2" name="Google Shape;154;p18">
            <a:extLst>
              <a:ext uri="{FF2B5EF4-FFF2-40B4-BE49-F238E27FC236}">
                <a16:creationId xmlns:a16="http://schemas.microsoft.com/office/drawing/2014/main" id="{91458EA3-0D83-C8C2-DE13-A8AD7ACD8EA3}"/>
              </a:ext>
            </a:extLst>
          </p:cNvPr>
          <p:cNvSpPr txBox="1">
            <a:spLocks noGrp="1"/>
          </p:cNvSpPr>
          <p:nvPr/>
        </p:nvSpPr>
        <p:spPr>
          <a:xfrm>
            <a:off x="598520" y="405972"/>
            <a:ext cx="10515600" cy="5001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7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3C64"/>
              </a:buClr>
              <a:buSzPct val="100000"/>
              <a:buFont typeface="Play"/>
              <a:buNone/>
            </a:pPr>
            <a:r>
              <a:rPr lang="en-IN" sz="3200" b="1" u="sng" dirty="0">
                <a:solidFill>
                  <a:srgbClr val="C00000"/>
                </a:solidFill>
              </a:rPr>
              <a:t>KEY METRICS AND VISUALIZATION</a:t>
            </a:r>
            <a:endParaRPr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41097"/>
            <a:ext cx="12191999" cy="50292"/>
          </a:xfrm>
          <a:prstGeom prst="rect">
            <a:avLst/>
          </a:prstGeom>
          <a:solidFill>
            <a:srgbClr val="237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TextBox 2"/>
          <p:cNvSpPr txBox="1"/>
          <p:nvPr/>
        </p:nvSpPr>
        <p:spPr>
          <a:xfrm>
            <a:off x="459793" y="798797"/>
            <a:ext cx="52201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2400" b="1" u="sng">
                <a:solidFill>
                  <a:srgbClr val="1F3756"/>
                </a:solidFill>
                <a:latin typeface="Aptos Display"/>
              </a:defRPr>
            </a:lvl1pPr>
          </a:lstStyle>
          <a:p>
            <a:r>
              <a:rPr dirty="0"/>
              <a:t>Users who have never liked a post</a:t>
            </a:r>
          </a:p>
        </p:txBody>
      </p:sp>
      <p:pic>
        <p:nvPicPr>
          <p:cNvPr id="4" name="Picture 3" descr="q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793" y="1611244"/>
            <a:ext cx="6626807" cy="3635511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60920" y="1611245"/>
            <a:ext cx="1965960" cy="1234440"/>
          </a:xfrm>
          <a:prstGeom prst="roundRect">
            <a:avLst/>
          </a:prstGeom>
          <a:solidFill>
            <a:srgbClr val="F2F5F7"/>
          </a:solidFill>
          <a:ln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" name="TextBox 5"/>
          <p:cNvSpPr txBox="1"/>
          <p:nvPr/>
        </p:nvSpPr>
        <p:spPr>
          <a:xfrm>
            <a:off x="7525512" y="1730117"/>
            <a:ext cx="1406539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237BA0"/>
                </a:solidFill>
                <a:latin typeface="Aptos Display"/>
              </a:defRPr>
            </a:pPr>
            <a:r>
              <a:rPr sz="3200"/>
              <a:t>23</a:t>
            </a:r>
          </a:p>
          <a:p>
            <a:pPr>
              <a:defRPr sz="1050" b="1">
                <a:solidFill>
                  <a:srgbClr val="232B34"/>
                </a:solidFill>
                <a:latin typeface="Aptos"/>
              </a:defRPr>
            </a:pPr>
            <a:r>
              <a:rPr sz="1200"/>
              <a:t>Never-liked users</a:t>
            </a:r>
          </a:p>
          <a:p>
            <a:pPr>
              <a:defRPr sz="850">
                <a:solidFill>
                  <a:srgbClr val="5C6772"/>
                </a:solidFill>
                <a:latin typeface="Aptos"/>
              </a:defRPr>
            </a:pPr>
            <a:r>
              <a:rPr sz="1000"/>
              <a:t>Q7 result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60920" y="3120005"/>
            <a:ext cx="4069080" cy="1325880"/>
          </a:xfrm>
          <a:prstGeom prst="roundRect">
            <a:avLst/>
          </a:prstGeom>
          <a:solidFill>
            <a:srgbClr val="F2F5F7"/>
          </a:solidFill>
          <a:ln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8" name="TextBox 7"/>
          <p:cNvSpPr txBox="1"/>
          <p:nvPr/>
        </p:nvSpPr>
        <p:spPr>
          <a:xfrm>
            <a:off x="7525512" y="3229733"/>
            <a:ext cx="1857881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37BA0"/>
                </a:solidFill>
                <a:latin typeface="Aptos"/>
              </a:defRPr>
            </a:pPr>
            <a:r>
              <a:rPr sz="1600"/>
              <a:t>Important nuance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25512" y="3558917"/>
            <a:ext cx="373989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232B34"/>
                </a:solidFill>
                <a:latin typeface="Aptos"/>
              </a:defRPr>
            </a:pPr>
            <a:r>
              <a:rPr sz="1400"/>
              <a:t>“Never liked” is not the same as “completely inactive”. Some users may post or comment without liking posts.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60920" y="4674485"/>
            <a:ext cx="4069080" cy="1325880"/>
          </a:xfrm>
          <a:prstGeom prst="roundRect">
            <a:avLst/>
          </a:prstGeom>
          <a:solidFill>
            <a:srgbClr val="F2F5F7"/>
          </a:solidFill>
          <a:ln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1" name="TextBox 10"/>
          <p:cNvSpPr txBox="1"/>
          <p:nvPr/>
        </p:nvSpPr>
        <p:spPr>
          <a:xfrm>
            <a:off x="7525512" y="4784213"/>
            <a:ext cx="2241319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428768"/>
                </a:solidFill>
                <a:latin typeface="Aptos"/>
              </a:defRPr>
            </a:pPr>
            <a:r>
              <a:rPr sz="1600"/>
              <a:t>Recommended action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25512" y="5113397"/>
            <a:ext cx="373989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232B34"/>
                </a:solidFill>
                <a:latin typeface="Aptos"/>
              </a:defRPr>
            </a:pPr>
            <a:r>
              <a:rPr sz="1400" dirty="0"/>
              <a:t>Separate true inactivity from alternative interaction </a:t>
            </a:r>
            <a:r>
              <a:rPr sz="1400" dirty="0" err="1"/>
              <a:t>behaviour</a:t>
            </a:r>
            <a:r>
              <a:rPr sz="1400" dirty="0"/>
              <a:t> before launching reactivation campaigns.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237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TextBox 2"/>
          <p:cNvSpPr txBox="1"/>
          <p:nvPr/>
        </p:nvSpPr>
        <p:spPr>
          <a:xfrm>
            <a:off x="423109" y="416784"/>
            <a:ext cx="113457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400" b="1" u="sng">
                <a:solidFill>
                  <a:srgbClr val="1F3756"/>
                </a:solidFill>
                <a:latin typeface="Aptos Display"/>
              </a:defRPr>
            </a:lvl1pPr>
          </a:lstStyle>
          <a:p>
            <a:pPr algn="ctr"/>
            <a:r>
              <a:rPr lang="en-IN" dirty="0"/>
              <a:t>2. TAGS ENGAGEMENT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143000"/>
            <a:ext cx="2743200" cy="1234440"/>
          </a:xfrm>
          <a:prstGeom prst="roundRect">
            <a:avLst/>
          </a:prstGeom>
          <a:solidFill>
            <a:srgbClr val="F2F5F7"/>
          </a:solidFill>
          <a:ln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" name="TextBox 4"/>
          <p:cNvSpPr txBox="1"/>
          <p:nvPr/>
        </p:nvSpPr>
        <p:spPr>
          <a:xfrm>
            <a:off x="850392" y="1261872"/>
            <a:ext cx="1672574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237BA0"/>
                </a:solidFill>
                <a:latin typeface="Aptos Display"/>
              </a:defRPr>
            </a:pPr>
            <a:r>
              <a:rPr sz="3200"/>
              <a:t>1.95</a:t>
            </a:r>
          </a:p>
          <a:p>
            <a:pPr>
              <a:defRPr sz="1050" b="1">
                <a:solidFill>
                  <a:srgbClr val="232B34"/>
                </a:solidFill>
                <a:latin typeface="Aptos"/>
              </a:defRPr>
            </a:pPr>
            <a:r>
              <a:rPr sz="1200"/>
              <a:t>Average tags per post</a:t>
            </a:r>
          </a:p>
          <a:p>
            <a:pPr>
              <a:defRPr sz="850">
                <a:solidFill>
                  <a:srgbClr val="5C6772"/>
                </a:solidFill>
                <a:latin typeface="Aptos"/>
              </a:defRPr>
            </a:pPr>
            <a:r>
              <a:rPr sz="1000"/>
              <a:t>Q3 result: 1.949416...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0" y="1143000"/>
            <a:ext cx="2743200" cy="1234440"/>
          </a:xfrm>
          <a:prstGeom prst="roundRect">
            <a:avLst/>
          </a:prstGeom>
          <a:solidFill>
            <a:srgbClr val="F2F5F7"/>
          </a:solidFill>
          <a:ln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7" name="TextBox 6"/>
          <p:cNvSpPr txBox="1"/>
          <p:nvPr/>
        </p:nvSpPr>
        <p:spPr>
          <a:xfrm>
            <a:off x="3822191" y="1261872"/>
            <a:ext cx="1319592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237BA0"/>
                </a:solidFill>
                <a:latin typeface="Aptos Display"/>
              </a:defRPr>
            </a:pPr>
            <a:r>
              <a:rPr sz="3200"/>
              <a:t>21</a:t>
            </a:r>
          </a:p>
          <a:p>
            <a:pPr>
              <a:defRPr sz="1050" b="1">
                <a:solidFill>
                  <a:srgbClr val="232B34"/>
                </a:solidFill>
                <a:latin typeface="Aptos"/>
              </a:defRPr>
            </a:pPr>
            <a:r>
              <a:rPr sz="1200"/>
              <a:t>Unique tags</a:t>
            </a:r>
          </a:p>
          <a:p>
            <a:pPr>
              <a:defRPr sz="850">
                <a:solidFill>
                  <a:srgbClr val="5C6772"/>
                </a:solidFill>
                <a:latin typeface="Aptos"/>
              </a:defRPr>
            </a:pPr>
            <a:r>
              <a:rPr sz="1000"/>
              <a:t>Q3/Q12 tag universe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29400" y="1143000"/>
            <a:ext cx="2286000" cy="1234440"/>
          </a:xfrm>
          <a:prstGeom prst="roundRect">
            <a:avLst/>
          </a:prstGeom>
          <a:solidFill>
            <a:srgbClr val="F2F5F7"/>
          </a:solidFill>
          <a:ln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9" name="TextBox 8"/>
          <p:cNvSpPr txBox="1"/>
          <p:nvPr/>
        </p:nvSpPr>
        <p:spPr>
          <a:xfrm>
            <a:off x="6793992" y="1261872"/>
            <a:ext cx="1236685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237BA0"/>
                </a:solidFill>
                <a:latin typeface="Aptos Display"/>
              </a:defRPr>
            </a:pPr>
            <a:r>
              <a:rPr sz="3200"/>
              <a:t>501</a:t>
            </a:r>
          </a:p>
          <a:p>
            <a:pPr>
              <a:defRPr sz="1050" b="1">
                <a:solidFill>
                  <a:srgbClr val="232B34"/>
                </a:solidFill>
                <a:latin typeface="Aptos"/>
              </a:defRPr>
            </a:pPr>
            <a:r>
              <a:rPr sz="1200"/>
              <a:t>Photo-tag links</a:t>
            </a:r>
          </a:p>
          <a:p>
            <a:pPr>
              <a:defRPr sz="850">
                <a:solidFill>
                  <a:srgbClr val="5C6772"/>
                </a:solidFill>
                <a:latin typeface="Aptos"/>
              </a:defRPr>
            </a:pPr>
            <a:r>
              <a:rPr sz="1000"/>
              <a:t>Tag associations</a:t>
            </a:r>
          </a:p>
        </p:txBody>
      </p:sp>
      <p:pic>
        <p:nvPicPr>
          <p:cNvPr id="10" name="Picture 9" descr="q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269" y="2659085"/>
            <a:ext cx="6981513" cy="3600332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311486" y="2834640"/>
            <a:ext cx="4160520" cy="1508760"/>
          </a:xfrm>
          <a:prstGeom prst="roundRect">
            <a:avLst/>
          </a:prstGeom>
          <a:solidFill>
            <a:srgbClr val="F2F5F7"/>
          </a:solidFill>
          <a:ln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2" name="TextBox 11"/>
          <p:cNvSpPr txBox="1"/>
          <p:nvPr/>
        </p:nvSpPr>
        <p:spPr>
          <a:xfrm>
            <a:off x="7476078" y="2944368"/>
            <a:ext cx="2646174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37BA0"/>
                </a:solidFill>
                <a:latin typeface="Aptos"/>
              </a:defRPr>
            </a:pPr>
            <a:r>
              <a:rPr sz="1600"/>
              <a:t>Q12 — Top hashtag signals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76078" y="3273552"/>
            <a:ext cx="3831335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232B34"/>
                </a:solidFill>
                <a:latin typeface="Aptos"/>
              </a:defRPr>
            </a:pPr>
            <a:r>
              <a:rPr sz="1400"/>
              <a:t>1. dreamy — 35.75 avg likes</a:t>
            </a:r>
          </a:p>
          <a:p>
            <a:pPr>
              <a:spcAft>
                <a:spcPts val="400"/>
              </a:spcAft>
              <a:defRPr sz="1150">
                <a:solidFill>
                  <a:srgbClr val="232B34"/>
                </a:solidFill>
                <a:latin typeface="Aptos"/>
              </a:defRPr>
            </a:pPr>
            <a:r>
              <a:rPr sz="1400"/>
              <a:t>2. beauty — 34.95</a:t>
            </a:r>
          </a:p>
          <a:p>
            <a:pPr>
              <a:spcAft>
                <a:spcPts val="400"/>
              </a:spcAft>
              <a:defRPr sz="1150">
                <a:solidFill>
                  <a:srgbClr val="232B34"/>
                </a:solidFill>
                <a:latin typeface="Aptos"/>
              </a:defRPr>
            </a:pPr>
            <a:r>
              <a:rPr sz="1400"/>
              <a:t>3. stunning — 34.94</a:t>
            </a:r>
          </a:p>
          <a:p>
            <a:pPr>
              <a:spcAft>
                <a:spcPts val="400"/>
              </a:spcAft>
              <a:defRPr sz="1150">
                <a:solidFill>
                  <a:srgbClr val="232B34"/>
                </a:solidFill>
                <a:latin typeface="Aptos"/>
              </a:defRPr>
            </a:pPr>
            <a:r>
              <a:rPr sz="1400"/>
              <a:t>4. delicious — 34.93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1486" y="4572000"/>
            <a:ext cx="4160520" cy="1234440"/>
          </a:xfrm>
          <a:prstGeom prst="roundRect">
            <a:avLst/>
          </a:prstGeom>
          <a:solidFill>
            <a:srgbClr val="F2F5F7"/>
          </a:solidFill>
          <a:ln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5" name="TextBox 14"/>
          <p:cNvSpPr txBox="1"/>
          <p:nvPr/>
        </p:nvSpPr>
        <p:spPr>
          <a:xfrm>
            <a:off x="7476078" y="4681728"/>
            <a:ext cx="141417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428768"/>
                </a:solidFill>
                <a:latin typeface="Aptos"/>
              </a:defRPr>
            </a:pPr>
            <a:r>
              <a:rPr sz="1600"/>
              <a:t>Business use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76078" y="5010912"/>
            <a:ext cx="383133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232B34"/>
                </a:solidFill>
                <a:latin typeface="Aptos"/>
              </a:defRPr>
            </a:pPr>
            <a:r>
              <a:rPr sz="1400"/>
              <a:t>Use higher-performing themes for content experiments and relevant ad creatives; do not rely on hashtag frequency alone.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1382" y="572933"/>
            <a:ext cx="117139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800" b="1" u="sng">
                <a:solidFill>
                  <a:srgbClr val="1F3756"/>
                </a:solidFill>
                <a:latin typeface="Aptos Display"/>
              </a:defRPr>
            </a:lvl1pPr>
          </a:lstStyle>
          <a:p>
            <a:pPr algn="ctr"/>
            <a:r>
              <a:rPr lang="en-IN" sz="2400" dirty="0"/>
              <a:t>3. ACTIVITY AND ENGAGEMENT SEGMENTATION</a:t>
            </a:r>
          </a:p>
        </p:txBody>
      </p:sp>
      <p:pic>
        <p:nvPicPr>
          <p:cNvPr id="5" name="Picture 4" descr="segment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568864"/>
            <a:ext cx="6766560" cy="4297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26679" y="1839589"/>
            <a:ext cx="3657600" cy="34060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700"/>
              </a:spcAft>
              <a:buFont typeface="Courier New" panose="02070309020205020404" pitchFamily="49" charset="0"/>
              <a:buChar char="o"/>
              <a:defRPr sz="1400">
                <a:solidFill>
                  <a:srgbClr val="232830"/>
                </a:solidFill>
                <a:latin typeface="Aptos"/>
              </a:defRPr>
            </a:pPr>
            <a:r>
              <a:rPr sz="1600" dirty="0"/>
              <a:t>Activity = posts + likes given + comments made.</a:t>
            </a:r>
          </a:p>
          <a:p>
            <a:pPr marL="285750" indent="-285750">
              <a:spcAft>
                <a:spcPts val="700"/>
              </a:spcAft>
              <a:buFont typeface="Courier New" panose="02070309020205020404" pitchFamily="49" charset="0"/>
              <a:buChar char="o"/>
              <a:defRPr sz="1400">
                <a:solidFill>
                  <a:srgbClr val="232830"/>
                </a:solidFill>
                <a:latin typeface="Aptos"/>
              </a:defRPr>
            </a:pPr>
            <a:r>
              <a:rPr sz="1600" dirty="0"/>
              <a:t>Engagement = likes + comments received on the user's posts.</a:t>
            </a:r>
          </a:p>
          <a:p>
            <a:pPr marL="285750" indent="-285750">
              <a:spcAft>
                <a:spcPts val="700"/>
              </a:spcAft>
              <a:buFont typeface="Courier New" panose="02070309020205020404" pitchFamily="49" charset="0"/>
              <a:buChar char="o"/>
              <a:defRPr sz="1400">
                <a:solidFill>
                  <a:srgbClr val="232830"/>
                </a:solidFill>
                <a:latin typeface="Aptos"/>
              </a:defRPr>
            </a:pPr>
            <a:r>
              <a:rPr sz="1600" dirty="0"/>
              <a:t>13 users have zero recorded activity; 13 fall into the high-activity band.</a:t>
            </a:r>
          </a:p>
          <a:p>
            <a:pPr marL="285750" indent="-285750">
              <a:spcAft>
                <a:spcPts val="700"/>
              </a:spcAft>
              <a:buFont typeface="Courier New" panose="02070309020205020404" pitchFamily="49" charset="0"/>
              <a:buChar char="o"/>
              <a:defRPr sz="1400">
                <a:solidFill>
                  <a:srgbClr val="232830"/>
                </a:solidFill>
                <a:latin typeface="Aptos"/>
              </a:defRPr>
            </a:pPr>
            <a:r>
              <a:rPr sz="1600" dirty="0"/>
              <a:t>20 users have high engagement (300+), while 26 have zero engagement.</a:t>
            </a:r>
          </a:p>
          <a:p>
            <a:pPr marL="285750" indent="-285750">
              <a:spcAft>
                <a:spcPts val="700"/>
              </a:spcAft>
              <a:buFont typeface="Courier New" panose="02070309020205020404" pitchFamily="49" charset="0"/>
              <a:buChar char="o"/>
              <a:defRPr sz="1400">
                <a:solidFill>
                  <a:srgbClr val="232830"/>
                </a:solidFill>
                <a:latin typeface="Aptos"/>
              </a:defRPr>
            </a:pPr>
            <a:r>
              <a:rPr sz="1600" dirty="0"/>
              <a:t>Use these as </a:t>
            </a:r>
            <a:r>
              <a:rPr sz="1600" dirty="0" err="1"/>
              <a:t>behavioural</a:t>
            </a:r>
            <a:r>
              <a:rPr sz="1600" dirty="0"/>
              <a:t> signals; refresh segments as </a:t>
            </a:r>
            <a:r>
              <a:rPr sz="1600" dirty="0" err="1"/>
              <a:t>behaviour</a:t>
            </a:r>
            <a:r>
              <a:rPr sz="1600" dirty="0"/>
              <a:t> changes.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237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00238" y="486864"/>
            <a:ext cx="3924921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32B34"/>
                </a:solidFill>
                <a:latin typeface="Aptos Display"/>
              </a:defRPr>
            </a:pPr>
            <a:r>
              <a:rPr sz="2400" b="1" u="sng" dirty="0">
                <a:solidFill>
                  <a:srgbClr val="1F3756"/>
                </a:solidFill>
                <a:latin typeface="Aptos Display"/>
              </a:rPr>
              <a:t>User-level interaction profile</a:t>
            </a:r>
          </a:p>
        </p:txBody>
      </p:sp>
      <p:pic>
        <p:nvPicPr>
          <p:cNvPr id="4" name="Picture 3" descr="q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7" y="1627940"/>
            <a:ext cx="7315200" cy="389241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092440" y="1143000"/>
            <a:ext cx="3383280" cy="1554480"/>
          </a:xfrm>
          <a:prstGeom prst="roundRect">
            <a:avLst/>
          </a:prstGeom>
          <a:solidFill>
            <a:srgbClr val="F2F5F7"/>
          </a:solidFill>
          <a:ln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57031" y="1252728"/>
            <a:ext cx="305409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37BA0"/>
                </a:solidFill>
                <a:latin typeface="Aptos"/>
              </a:defRPr>
            </a:pPr>
            <a:r>
              <a:t>Top user profile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57031" y="1581912"/>
            <a:ext cx="305409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232B34"/>
                </a:solidFill>
                <a:latin typeface="Aptos"/>
              </a:defRPr>
            </a:pPr>
            <a:r>
              <a:t>Eveline95: 420 likes received, 329 comments received, 24 photo tags.</a:t>
            </a:r>
          </a:p>
          <a:p>
            <a:pPr>
              <a:spcAft>
                <a:spcPts val="400"/>
              </a:spcAft>
              <a:defRPr sz="1150">
                <a:solidFill>
                  <a:srgbClr val="232B34"/>
                </a:solidFill>
                <a:latin typeface="Aptos"/>
              </a:defRPr>
            </a:pPr>
            <a:r>
              <a:t>Clint27: 361 likes, 299 comments, 26 photo tags.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92440" y="2926080"/>
            <a:ext cx="3383280" cy="1371600"/>
          </a:xfrm>
          <a:prstGeom prst="roundRect">
            <a:avLst/>
          </a:prstGeom>
          <a:solidFill>
            <a:srgbClr val="F2F5F7"/>
          </a:solidFill>
          <a:ln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57031" y="3035808"/>
            <a:ext cx="305409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428768"/>
                </a:solidFill>
                <a:latin typeface="Aptos"/>
              </a:defRPr>
            </a:pPr>
            <a:r>
              <a:t>Why separate aggregations?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7031" y="3364992"/>
            <a:ext cx="305409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232B34"/>
                </a:solidFill>
                <a:latin typeface="Aptos"/>
              </a:defRPr>
            </a:pPr>
            <a:r>
              <a:t>Likes, comments and tags are aggregated separately before joining to avoid join fan-out and inflated counts.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4526280"/>
            <a:ext cx="3383280" cy="960120"/>
          </a:xfrm>
          <a:prstGeom prst="roundRect">
            <a:avLst/>
          </a:prstGeom>
          <a:solidFill>
            <a:srgbClr val="F2F5F7"/>
          </a:solidFill>
          <a:ln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57031" y="4636008"/>
            <a:ext cx="305409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37BA0"/>
                </a:solidFill>
                <a:latin typeface="Aptos"/>
              </a:defRPr>
            </a:pPr>
            <a:r>
              <a:t>SQL technique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57031" y="4965192"/>
            <a:ext cx="30540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232B34"/>
                </a:solidFill>
                <a:latin typeface="Aptos"/>
              </a:defRPr>
            </a:pPr>
            <a:r>
              <a:t>Three aggregation subqueries + LEFT JOIN.</a:t>
            </a:r>
          </a:p>
        </p:txBody>
      </p:sp>
    </p:spTree>
    <p:extLst>
      <p:ext uri="{BB962C8B-B14F-4D97-AF65-F5344CB8AC3E}">
        <p14:creationId xmlns:p14="http://schemas.microsoft.com/office/powerpoint/2010/main" val="25194020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237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TextBox 2"/>
          <p:cNvSpPr txBox="1"/>
          <p:nvPr/>
        </p:nvSpPr>
        <p:spPr>
          <a:xfrm>
            <a:off x="544790" y="573318"/>
            <a:ext cx="426809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400" b="1" u="sng">
                <a:solidFill>
                  <a:srgbClr val="1F3756"/>
                </a:solidFill>
                <a:latin typeface="Aptos Display"/>
              </a:defRPr>
            </a:lvl1pPr>
          </a:lstStyle>
          <a:p>
            <a:r>
              <a:rPr dirty="0"/>
              <a:t>Engagement efficiency per post</a:t>
            </a:r>
          </a:p>
        </p:txBody>
      </p:sp>
      <p:pic>
        <p:nvPicPr>
          <p:cNvPr id="5" name="Picture 4" descr="q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701" y="1148775"/>
            <a:ext cx="7088490" cy="402024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415784" y="1148775"/>
            <a:ext cx="4206240" cy="1600200"/>
          </a:xfrm>
          <a:prstGeom prst="roundRect">
            <a:avLst/>
          </a:prstGeom>
          <a:solidFill>
            <a:srgbClr val="F2F5F7"/>
          </a:solidFill>
          <a:ln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7" name="TextBox 6"/>
          <p:cNvSpPr txBox="1"/>
          <p:nvPr/>
        </p:nvSpPr>
        <p:spPr>
          <a:xfrm>
            <a:off x="7580376" y="1258502"/>
            <a:ext cx="2469907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37BA0"/>
                </a:solidFill>
                <a:latin typeface="Aptos"/>
              </a:defRPr>
            </a:pPr>
            <a:r>
              <a:rPr sz="1600"/>
              <a:t>Top average engagement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0376" y="1587687"/>
            <a:ext cx="3877055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232B34"/>
                </a:solidFill>
                <a:latin typeface="Aptos"/>
              </a:defRPr>
            </a:pPr>
            <a:r>
              <a:rPr sz="1400"/>
              <a:t>Meggie_Doyle — 75.0</a:t>
            </a:r>
          </a:p>
          <a:p>
            <a:pPr>
              <a:spcAft>
                <a:spcPts val="400"/>
              </a:spcAft>
              <a:defRPr sz="1150">
                <a:solidFill>
                  <a:srgbClr val="232B34"/>
                </a:solidFill>
                <a:latin typeface="Aptos"/>
              </a:defRPr>
            </a:pPr>
            <a:r>
              <a:rPr sz="1400"/>
              <a:t>Jaylan.Lakin — 73.0</a:t>
            </a:r>
          </a:p>
          <a:p>
            <a:pPr>
              <a:spcAft>
                <a:spcPts val="400"/>
              </a:spcAft>
              <a:defRPr sz="1150">
                <a:solidFill>
                  <a:srgbClr val="232B34"/>
                </a:solidFill>
                <a:latin typeface="Aptos"/>
              </a:defRPr>
            </a:pPr>
            <a:r>
              <a:rPr sz="1400"/>
              <a:t>Granville_Kutch — 71.0</a:t>
            </a:r>
          </a:p>
          <a:p>
            <a:pPr>
              <a:spcAft>
                <a:spcPts val="400"/>
              </a:spcAft>
              <a:defRPr sz="1150">
                <a:solidFill>
                  <a:srgbClr val="232B34"/>
                </a:solidFill>
                <a:latin typeface="Aptos"/>
              </a:defRPr>
            </a:pPr>
            <a:r>
              <a:rPr sz="1400"/>
              <a:t>Kenneth64 — 70.0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15784" y="2977575"/>
            <a:ext cx="4206240" cy="1325880"/>
          </a:xfrm>
          <a:prstGeom prst="roundRect">
            <a:avLst/>
          </a:prstGeom>
          <a:solidFill>
            <a:srgbClr val="F2F5F7"/>
          </a:solidFill>
          <a:ln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0" name="TextBox 9"/>
          <p:cNvSpPr txBox="1"/>
          <p:nvPr/>
        </p:nvSpPr>
        <p:spPr>
          <a:xfrm>
            <a:off x="7580376" y="3087303"/>
            <a:ext cx="119334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428768"/>
                </a:solidFill>
                <a:latin typeface="Aptos"/>
              </a:defRPr>
            </a:pPr>
            <a:r>
              <a:rPr sz="1600"/>
              <a:t>Key insight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0376" y="3416487"/>
            <a:ext cx="387705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232B34"/>
                </a:solidFill>
                <a:latin typeface="Aptos"/>
              </a:defRPr>
            </a:pPr>
            <a:r>
              <a:rPr sz="1400"/>
              <a:t>The Q6 leaders differ from the Q4 leaders. Average engagement helps identify efficient content performers rather than only high-volume creators.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15784" y="4532055"/>
            <a:ext cx="4206240" cy="960120"/>
          </a:xfrm>
          <a:prstGeom prst="roundRect">
            <a:avLst/>
          </a:prstGeom>
          <a:solidFill>
            <a:srgbClr val="F2F5F7"/>
          </a:solidFill>
          <a:ln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3" name="TextBox 12"/>
          <p:cNvSpPr txBox="1"/>
          <p:nvPr/>
        </p:nvSpPr>
        <p:spPr>
          <a:xfrm>
            <a:off x="7580376" y="4641783"/>
            <a:ext cx="1549399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37BA0"/>
                </a:solidFill>
                <a:latin typeface="Aptos"/>
              </a:defRPr>
            </a:pPr>
            <a:r>
              <a:rPr sz="1600"/>
              <a:t>SQL technique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0376" y="4970967"/>
            <a:ext cx="387705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232B34"/>
                </a:solidFill>
                <a:latin typeface="Aptos"/>
              </a:defRPr>
            </a:pPr>
            <a:r>
              <a:rPr sz="1400"/>
              <a:t>Per-post aggregation + SUM / COUNT.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237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TextBox 2"/>
          <p:cNvSpPr txBox="1"/>
          <p:nvPr/>
        </p:nvSpPr>
        <p:spPr>
          <a:xfrm>
            <a:off x="621792" y="555292"/>
            <a:ext cx="5170133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32B34"/>
                </a:solidFill>
                <a:latin typeface="Aptos Display"/>
              </a:defRPr>
            </a:pPr>
            <a:r>
              <a:rPr sz="2400" b="1" u="sng" dirty="0">
                <a:solidFill>
                  <a:srgbClr val="1F3756"/>
                </a:solidFill>
                <a:latin typeface="Aptos Display"/>
              </a:rPr>
              <a:t>Who generates the most engagement?</a:t>
            </a:r>
          </a:p>
        </p:txBody>
      </p:sp>
      <p:pic>
        <p:nvPicPr>
          <p:cNvPr id="5" name="Picture 4" descr="q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572287"/>
            <a:ext cx="6346899" cy="333945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0" y="1143000"/>
            <a:ext cx="4160520" cy="1463040"/>
          </a:xfrm>
          <a:prstGeom prst="roundRect">
            <a:avLst/>
          </a:prstGeom>
          <a:solidFill>
            <a:srgbClr val="F2F5F7"/>
          </a:solidFill>
          <a:ln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7" name="TextBox 6"/>
          <p:cNvSpPr txBox="1"/>
          <p:nvPr/>
        </p:nvSpPr>
        <p:spPr>
          <a:xfrm>
            <a:off x="7479792" y="1252728"/>
            <a:ext cx="660374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37BA0"/>
                </a:solidFill>
                <a:latin typeface="Aptos"/>
              </a:defRPr>
            </a:pPr>
            <a:r>
              <a:rPr sz="1600"/>
              <a:t>Top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79792" y="1581912"/>
            <a:ext cx="3831335" cy="841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232B34"/>
                </a:solidFill>
                <a:latin typeface="Aptos"/>
              </a:defRPr>
            </a:pPr>
            <a:r>
              <a:rPr sz="1400"/>
              <a:t>Eveline95 — 749</a:t>
            </a:r>
          </a:p>
          <a:p>
            <a:pPr>
              <a:spcAft>
                <a:spcPts val="400"/>
              </a:spcAft>
              <a:defRPr sz="1150">
                <a:solidFill>
                  <a:srgbClr val="232B34"/>
                </a:solidFill>
                <a:latin typeface="Aptos"/>
              </a:defRPr>
            </a:pPr>
            <a:r>
              <a:rPr sz="1400"/>
              <a:t>Clint27 — 660</a:t>
            </a:r>
          </a:p>
          <a:p>
            <a:pPr>
              <a:spcAft>
                <a:spcPts val="400"/>
              </a:spcAft>
              <a:defRPr sz="1150">
                <a:solidFill>
                  <a:srgbClr val="232B34"/>
                </a:solidFill>
                <a:latin typeface="Aptos"/>
              </a:defRPr>
            </a:pPr>
            <a:r>
              <a:rPr sz="1400"/>
              <a:t>Cesar93 — 646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199" y="2752352"/>
            <a:ext cx="4160520" cy="1448443"/>
          </a:xfrm>
          <a:prstGeom prst="roundRect">
            <a:avLst/>
          </a:prstGeom>
          <a:solidFill>
            <a:srgbClr val="F2F5F7"/>
          </a:solidFill>
          <a:ln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0" name="TextBox 9"/>
          <p:cNvSpPr txBox="1"/>
          <p:nvPr/>
        </p:nvSpPr>
        <p:spPr>
          <a:xfrm>
            <a:off x="7479792" y="2898648"/>
            <a:ext cx="248138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28768"/>
                </a:solidFill>
                <a:latin typeface="Aptos"/>
              </a:defRPr>
            </a:pPr>
            <a:r>
              <a:rPr sz="1600"/>
              <a:t>What the ranking tells 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79792" y="3227832"/>
            <a:ext cx="3831335" cy="1005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232B34"/>
                </a:solidFill>
                <a:latin typeface="Aptos"/>
              </a:defRPr>
            </a:pPr>
            <a:r>
              <a:rPr sz="1400" dirty="0"/>
              <a:t>These users generate the strongest interaction volume on their content.</a:t>
            </a:r>
          </a:p>
          <a:p>
            <a:pPr>
              <a:spcAft>
                <a:spcPts val="400"/>
              </a:spcAft>
              <a:defRPr sz="1150">
                <a:solidFill>
                  <a:srgbClr val="232B34"/>
                </a:solidFill>
                <a:latin typeface="Aptos"/>
              </a:defRPr>
            </a:pPr>
            <a:r>
              <a:rPr sz="1400" dirty="0"/>
              <a:t>Useful for creator, loyalty and advocacy shortlists.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0" y="4343400"/>
            <a:ext cx="4160520" cy="1051560"/>
          </a:xfrm>
          <a:prstGeom prst="roundRect">
            <a:avLst/>
          </a:prstGeom>
          <a:solidFill>
            <a:srgbClr val="F2F5F7"/>
          </a:solidFill>
          <a:ln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3" name="TextBox 12"/>
          <p:cNvSpPr txBox="1"/>
          <p:nvPr/>
        </p:nvSpPr>
        <p:spPr>
          <a:xfrm>
            <a:off x="7479792" y="4453128"/>
            <a:ext cx="1549399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37BA0"/>
                </a:solidFill>
                <a:latin typeface="Aptos"/>
              </a:defRPr>
            </a:pPr>
            <a:r>
              <a:rPr sz="1600"/>
              <a:t>SQL technique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79792" y="4782312"/>
            <a:ext cx="38313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232B34"/>
                </a:solidFill>
                <a:latin typeface="Aptos"/>
              </a:defRPr>
            </a:pPr>
            <a:r>
              <a:rPr sz="1400"/>
              <a:t>CTE + pre-aggregated likes/comments + RANK().</a:t>
            </a:r>
          </a:p>
        </p:txBody>
      </p:sp>
    </p:spTree>
    <p:extLst>
      <p:ext uri="{BB962C8B-B14F-4D97-AF65-F5344CB8AC3E}">
        <p14:creationId xmlns:p14="http://schemas.microsoft.com/office/powerpoint/2010/main" val="36807630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237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" name="TextBox 2"/>
          <p:cNvSpPr txBox="1"/>
          <p:nvPr/>
        </p:nvSpPr>
        <p:spPr>
          <a:xfrm>
            <a:off x="548018" y="356159"/>
            <a:ext cx="110959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2400" b="1" u="sng">
                <a:solidFill>
                  <a:srgbClr val="1F3756"/>
                </a:solidFill>
                <a:latin typeface="Aptos Display"/>
              </a:defRPr>
            </a:lvl1pPr>
          </a:lstStyle>
          <a:p>
            <a:r>
              <a:rPr lang="en-US" dirty="0"/>
              <a:t>4. REACH AND CONNECTIVITY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1022" y="968441"/>
            <a:ext cx="4000553" cy="4496649"/>
          </a:xfrm>
          <a:prstGeom prst="roundRect">
            <a:avLst>
              <a:gd name="adj" fmla="val 8177"/>
            </a:avLst>
          </a:prstGeom>
          <a:solidFill>
            <a:srgbClr val="F2F5F7"/>
          </a:solidFill>
          <a:ln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3" name="TextBox 12"/>
          <p:cNvSpPr txBox="1"/>
          <p:nvPr/>
        </p:nvSpPr>
        <p:spPr>
          <a:xfrm>
            <a:off x="7830798" y="1505141"/>
            <a:ext cx="3775589" cy="40523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Aft>
                <a:spcPts val="400"/>
              </a:spcAft>
              <a:buFont typeface="Courier New" panose="02070309020205020404" pitchFamily="49" charset="0"/>
              <a:buChar char="o"/>
              <a:defRPr sz="1150">
                <a:solidFill>
                  <a:srgbClr val="232B34"/>
                </a:solidFill>
                <a:latin typeface="Aptos"/>
              </a:defRPr>
            </a:pPr>
            <a:r>
              <a:rPr lang="en-US" sz="1400" dirty="0"/>
              <a:t>Top 10 users are tied at max 77 followers.</a:t>
            </a:r>
          </a:p>
          <a:p>
            <a:pPr marL="171450" indent="-171450">
              <a:spcAft>
                <a:spcPts val="400"/>
              </a:spcAft>
              <a:buFont typeface="Courier New" panose="02070309020205020404" pitchFamily="49" charset="0"/>
              <a:buChar char="o"/>
              <a:defRPr sz="1150">
                <a:solidFill>
                  <a:srgbClr val="232B34"/>
                </a:solidFill>
                <a:latin typeface="Aptos"/>
              </a:defRPr>
            </a:pPr>
            <a:r>
              <a:rPr sz="1400" dirty="0"/>
              <a:t>Follower count can support creator reach; following count signals network connectivity.</a:t>
            </a:r>
            <a:endParaRPr lang="en-US" sz="1400" dirty="0"/>
          </a:p>
          <a:p>
            <a:pPr marL="171450" indent="-171450">
              <a:spcAft>
                <a:spcPts val="700"/>
              </a:spcAft>
              <a:buFont typeface="Courier New" panose="02070309020205020404" pitchFamily="49" charset="0"/>
              <a:buChar char="o"/>
              <a:defRPr sz="1400">
                <a:solidFill>
                  <a:srgbClr val="232830"/>
                </a:solidFill>
                <a:latin typeface="Aptos"/>
              </a:defRPr>
            </a:pPr>
            <a:r>
              <a:rPr lang="en-US" sz="1400" dirty="0"/>
              <a:t>Users with more posts generally accumulate more total engagement.</a:t>
            </a:r>
          </a:p>
          <a:p>
            <a:pPr marL="171450" indent="-171450">
              <a:spcAft>
                <a:spcPts val="700"/>
              </a:spcAft>
              <a:buFont typeface="Courier New" panose="02070309020205020404" pitchFamily="49" charset="0"/>
              <a:buChar char="o"/>
              <a:defRPr sz="1400">
                <a:solidFill>
                  <a:srgbClr val="232830"/>
                </a:solidFill>
                <a:latin typeface="Aptos"/>
              </a:defRPr>
            </a:pPr>
            <a:r>
              <a:rPr lang="en-US" sz="1400" dirty="0"/>
              <a:t>Average engagement per post stays broadly around the low-to-mid 60s across posting volumes.</a:t>
            </a:r>
          </a:p>
          <a:p>
            <a:pPr marL="171450" indent="-171450">
              <a:spcAft>
                <a:spcPts val="700"/>
              </a:spcAft>
              <a:buFont typeface="Courier New" panose="02070309020205020404" pitchFamily="49" charset="0"/>
              <a:buChar char="o"/>
              <a:defRPr sz="1400">
                <a:solidFill>
                  <a:srgbClr val="232830"/>
                </a:solidFill>
                <a:latin typeface="Aptos"/>
              </a:defRPr>
            </a:pPr>
            <a:r>
              <a:rPr lang="en-US" sz="1400" dirty="0"/>
              <a:t>Recommendation: encourage consistent quality content, not posting volume alone.</a:t>
            </a:r>
          </a:p>
          <a:p>
            <a:pPr marL="171450" indent="-171450">
              <a:spcAft>
                <a:spcPts val="700"/>
              </a:spcAft>
              <a:buFont typeface="Courier New" panose="02070309020205020404" pitchFamily="49" charset="0"/>
              <a:buChar char="o"/>
              <a:defRPr sz="1400">
                <a:solidFill>
                  <a:srgbClr val="232830"/>
                </a:solidFill>
                <a:latin typeface="Aptos"/>
              </a:defRPr>
            </a:pPr>
            <a:r>
              <a:rPr lang="en-US" sz="1400" dirty="0"/>
              <a:t>This avoids treating the strong post-count/total-engagement relationship as proof that more posts always perform better.</a:t>
            </a:r>
          </a:p>
          <a:p>
            <a:pPr>
              <a:spcAft>
                <a:spcPts val="400"/>
              </a:spcAft>
              <a:defRPr sz="1150">
                <a:solidFill>
                  <a:srgbClr val="232B34"/>
                </a:solidFill>
                <a:latin typeface="Aptos"/>
              </a:defRPr>
            </a:pPr>
            <a:endParaRPr lang="en-US" sz="1400" dirty="0"/>
          </a:p>
          <a:p>
            <a:pPr>
              <a:spcAft>
                <a:spcPts val="400"/>
              </a:spcAft>
              <a:defRPr sz="1150">
                <a:solidFill>
                  <a:srgbClr val="232B34"/>
                </a:solidFill>
                <a:latin typeface="Aptos"/>
              </a:defRPr>
            </a:pPr>
            <a:endParaRPr sz="1400" dirty="0"/>
          </a:p>
        </p:txBody>
      </p:sp>
      <p:sp>
        <p:nvSpPr>
          <p:cNvPr id="16" name="TextBox 15"/>
          <p:cNvSpPr txBox="1"/>
          <p:nvPr/>
        </p:nvSpPr>
        <p:spPr>
          <a:xfrm>
            <a:off x="11696964" y="7529977"/>
            <a:ext cx="328937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C6772"/>
                </a:solidFill>
                <a:latin typeface="Aptos"/>
              </a:defRPr>
            </a:pPr>
            <a:r>
              <a:rPr sz="1050"/>
              <a:t>10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DDA62365-8BCA-A7FA-27F3-A69DA4005C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613" y="1682980"/>
            <a:ext cx="6682264" cy="369671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4770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algn="ctr">
              <a:defRPr sz="2500" b="1" u="sng">
                <a:solidFill>
                  <a:srgbClr val="C00000"/>
                </a:solidFill>
                <a:latin typeface="Aptos"/>
              </a:defRPr>
            </a:lvl1pPr>
            <a:lvl2pPr marR="0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dirty="0"/>
              <a:t>USER &amp; SEGMENTATION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2606040" cy="1417320"/>
          </a:xfrm>
          <a:prstGeom prst="roundRect">
            <a:avLst/>
          </a:prstGeom>
          <a:solidFill>
            <a:srgbClr val="F4F7F9"/>
          </a:solidFill>
          <a:ln>
            <a:solidFill>
              <a:srgbClr val="D7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234440"/>
            <a:ext cx="64008" cy="1417320"/>
          </a:xfrm>
          <a:prstGeom prst="rect">
            <a:avLst/>
          </a:prstGeom>
          <a:solidFill>
            <a:srgbClr val="007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4671" y="1380744"/>
            <a:ext cx="22860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07E96"/>
                </a:solidFill>
                <a:latin typeface="Aptos"/>
              </a:rPr>
              <a:t>INACTIVE / NO ACTIVITY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1" y="1764792"/>
            <a:ext cx="2286000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0">
                <a:solidFill>
                  <a:srgbClr val="23282D"/>
                </a:solidFill>
                <a:latin typeface="Aptos"/>
              </a:rPr>
              <a:t>13 users
Activity = 0
Priority: low-friction reactivation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234440"/>
            <a:ext cx="2606040" cy="1417320"/>
          </a:xfrm>
          <a:prstGeom prst="roundRect">
            <a:avLst/>
          </a:prstGeom>
          <a:solidFill>
            <a:srgbClr val="F4F7F9"/>
          </a:solidFill>
          <a:ln>
            <a:solidFill>
              <a:srgbClr val="D7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429000" y="1234440"/>
            <a:ext cx="64008" cy="1417320"/>
          </a:xfrm>
          <a:prstGeom prst="rect">
            <a:avLst/>
          </a:prstGeom>
          <a:solidFill>
            <a:srgbClr val="2A8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593592" y="1380744"/>
            <a:ext cx="22860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A825A"/>
                </a:solidFill>
                <a:latin typeface="Aptos"/>
              </a:rPr>
              <a:t>LOW ACTIVITY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93592" y="1764792"/>
            <a:ext cx="2286000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0">
                <a:solidFill>
                  <a:srgbClr val="23282D"/>
                </a:solidFill>
                <a:latin typeface="Aptos"/>
              </a:rPr>
              <a:t>35 users
Activity = 1–149
Priority: prompts, content discovery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234440"/>
            <a:ext cx="2606040" cy="1417320"/>
          </a:xfrm>
          <a:prstGeom prst="roundRect">
            <a:avLst/>
          </a:prstGeom>
          <a:solidFill>
            <a:srgbClr val="F4F7F9"/>
          </a:solidFill>
          <a:ln>
            <a:solidFill>
              <a:srgbClr val="D7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17920" y="1234440"/>
            <a:ext cx="64008" cy="1417320"/>
          </a:xfrm>
          <a:prstGeom prst="rect">
            <a:avLst/>
          </a:prstGeom>
          <a:solidFill>
            <a:srgbClr val="183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82512" y="1380744"/>
            <a:ext cx="22860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83F66"/>
                </a:solidFill>
                <a:latin typeface="Aptos"/>
              </a:rPr>
              <a:t>MODERATE ACTIVITY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2512" y="1764792"/>
            <a:ext cx="2286000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0">
                <a:solidFill>
                  <a:srgbClr val="23282D"/>
                </a:solidFill>
                <a:latin typeface="Aptos"/>
              </a:rPr>
              <a:t>39 users
Activity = 150–249
Priority: participation + community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06840" y="1234440"/>
            <a:ext cx="2606040" cy="1417320"/>
          </a:xfrm>
          <a:prstGeom prst="roundRect">
            <a:avLst/>
          </a:prstGeom>
          <a:solidFill>
            <a:srgbClr val="F4F7F9"/>
          </a:solidFill>
          <a:ln>
            <a:solidFill>
              <a:srgbClr val="D7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006840" y="1234440"/>
            <a:ext cx="64008" cy="1417320"/>
          </a:xfrm>
          <a:prstGeom prst="rect">
            <a:avLst/>
          </a:prstGeom>
          <a:solidFill>
            <a:srgbClr val="007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71432" y="1380744"/>
            <a:ext cx="22860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07E96"/>
                </a:solidFill>
                <a:latin typeface="Aptos"/>
              </a:rPr>
              <a:t>HIGH ACTIVITY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71432" y="1764792"/>
            <a:ext cx="2286000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0">
                <a:solidFill>
                  <a:srgbClr val="23282D"/>
                </a:solidFill>
                <a:latin typeface="Aptos"/>
              </a:rPr>
              <a:t>13 users
Activity = 250+
Priority: loyalty / creator programs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2971800"/>
            <a:ext cx="2606040" cy="1417320"/>
          </a:xfrm>
          <a:prstGeom prst="roundRect">
            <a:avLst/>
          </a:prstGeom>
          <a:solidFill>
            <a:srgbClr val="F4F7F9"/>
          </a:solidFill>
          <a:ln>
            <a:solidFill>
              <a:srgbClr val="D7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40080" y="2971800"/>
            <a:ext cx="64008" cy="1417320"/>
          </a:xfrm>
          <a:prstGeom prst="rect">
            <a:avLst/>
          </a:prstGeom>
          <a:solidFill>
            <a:srgbClr val="007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04671" y="3118104"/>
            <a:ext cx="22860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07E96"/>
                </a:solidFill>
                <a:latin typeface="Aptos"/>
              </a:rPr>
              <a:t>NO ENGAGEMENT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1" y="3502152"/>
            <a:ext cx="2286000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0">
                <a:solidFill>
                  <a:srgbClr val="23282D"/>
                </a:solidFill>
                <a:latin typeface="Aptos"/>
              </a:rPr>
              <a:t>26 users
Engagement = 0
Reactivation signal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29000" y="2971800"/>
            <a:ext cx="2606040" cy="1417320"/>
          </a:xfrm>
          <a:prstGeom prst="roundRect">
            <a:avLst/>
          </a:prstGeom>
          <a:solidFill>
            <a:srgbClr val="F4F7F9"/>
          </a:solidFill>
          <a:ln>
            <a:solidFill>
              <a:srgbClr val="D7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429000" y="2971800"/>
            <a:ext cx="64008" cy="1417320"/>
          </a:xfrm>
          <a:prstGeom prst="rect">
            <a:avLst/>
          </a:prstGeom>
          <a:solidFill>
            <a:srgbClr val="2A8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593592" y="3118104"/>
            <a:ext cx="22860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A825A"/>
                </a:solidFill>
                <a:latin typeface="Aptos"/>
              </a:rPr>
              <a:t>LOW ENGAGEMENT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93592" y="3502152"/>
            <a:ext cx="2286000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0">
                <a:solidFill>
                  <a:srgbClr val="23282D"/>
                </a:solidFill>
                <a:latin typeface="Aptos"/>
              </a:rPr>
              <a:t>40 users
Engagement &lt; 200
Nurture + discovery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2971800"/>
            <a:ext cx="2606040" cy="1417320"/>
          </a:xfrm>
          <a:prstGeom prst="roundRect">
            <a:avLst/>
          </a:prstGeom>
          <a:solidFill>
            <a:srgbClr val="F4F7F9"/>
          </a:solidFill>
          <a:ln>
            <a:solidFill>
              <a:srgbClr val="D7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217920" y="2971800"/>
            <a:ext cx="64008" cy="1417320"/>
          </a:xfrm>
          <a:prstGeom prst="rect">
            <a:avLst/>
          </a:prstGeom>
          <a:solidFill>
            <a:srgbClr val="183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82512" y="3118104"/>
            <a:ext cx="22860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83F66"/>
                </a:solidFill>
                <a:latin typeface="Aptos"/>
              </a:rPr>
              <a:t>MODERATE ENGAGEMENT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82512" y="3502152"/>
            <a:ext cx="2286000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0">
                <a:solidFill>
                  <a:srgbClr val="23282D"/>
                </a:solidFill>
                <a:latin typeface="Aptos"/>
              </a:rPr>
              <a:t>14 users
Engagement = 200–299
Strengthen participation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006840" y="2971800"/>
            <a:ext cx="2606040" cy="1417320"/>
          </a:xfrm>
          <a:prstGeom prst="roundRect">
            <a:avLst/>
          </a:prstGeom>
          <a:solidFill>
            <a:srgbClr val="F4F7F9"/>
          </a:solidFill>
          <a:ln>
            <a:solidFill>
              <a:srgbClr val="D7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9006840" y="2971800"/>
            <a:ext cx="64008" cy="1417320"/>
          </a:xfrm>
          <a:prstGeom prst="rect">
            <a:avLst/>
          </a:prstGeom>
          <a:solidFill>
            <a:srgbClr val="007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171432" y="3118104"/>
            <a:ext cx="22860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07E96"/>
                </a:solidFill>
                <a:latin typeface="Aptos"/>
              </a:rPr>
              <a:t>HIGH ENGAGEMENT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71432" y="3502152"/>
            <a:ext cx="2286000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0">
                <a:solidFill>
                  <a:srgbClr val="23282D"/>
                </a:solidFill>
                <a:latin typeface="Aptos"/>
              </a:rPr>
              <a:t>20 users
Engagement = 300+
Creator / advocacy potential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" y="4800600"/>
            <a:ext cx="10972800" cy="960120"/>
          </a:xfrm>
          <a:prstGeom prst="roundRect">
            <a:avLst/>
          </a:prstGeom>
          <a:solidFill>
            <a:srgbClr val="F4F7F9"/>
          </a:solidFill>
          <a:ln>
            <a:solidFill>
              <a:srgbClr val="D7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40080" y="4800600"/>
            <a:ext cx="64008" cy="960120"/>
          </a:xfrm>
          <a:prstGeom prst="rect">
            <a:avLst/>
          </a:prstGeom>
          <a:solidFill>
            <a:srgbClr val="183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04671" y="4946904"/>
            <a:ext cx="106527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83F66"/>
                </a:solidFill>
                <a:latin typeface="Aptos"/>
              </a:rPr>
              <a:t>SEGMENTATION PRINCIPLE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4671" y="5330952"/>
            <a:ext cx="1065276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0">
                <a:solidFill>
                  <a:srgbClr val="23282D"/>
                </a:solidFill>
                <a:latin typeface="Aptos"/>
              </a:rPr>
              <a:t>Use activity + engagement + follower reach + content relevance together. A high-follower user is not automatically the most valuable user.</a:t>
            </a:r>
          </a:p>
        </p:txBody>
      </p:sp>
    </p:spTree>
    <p:extLst>
      <p:ext uri="{BB962C8B-B14F-4D97-AF65-F5344CB8AC3E}">
        <p14:creationId xmlns:p14="http://schemas.microsoft.com/office/powerpoint/2010/main" val="24395202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4770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1" u="sng" dirty="0">
                <a:solidFill>
                  <a:srgbClr val="C00000"/>
                </a:solidFill>
                <a:latin typeface="Aptos"/>
              </a:rPr>
              <a:t>MARKETING STRATEGY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3520440" cy="4526280"/>
          </a:xfrm>
          <a:prstGeom prst="roundRect">
            <a:avLst/>
          </a:prstGeom>
          <a:solidFill>
            <a:srgbClr val="F4F7F9"/>
          </a:solidFill>
          <a:ln>
            <a:solidFill>
              <a:srgbClr val="D7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5" name="Rectangle 4"/>
          <p:cNvSpPr/>
          <p:nvPr/>
        </p:nvSpPr>
        <p:spPr>
          <a:xfrm>
            <a:off x="640080" y="1234440"/>
            <a:ext cx="64008" cy="4526280"/>
          </a:xfrm>
          <a:prstGeom prst="rect">
            <a:avLst/>
          </a:prstGeom>
          <a:solidFill>
            <a:srgbClr val="007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6" name="TextBox 5"/>
          <p:cNvSpPr txBox="1"/>
          <p:nvPr/>
        </p:nvSpPr>
        <p:spPr>
          <a:xfrm>
            <a:off x="804671" y="1380744"/>
            <a:ext cx="32004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07E96"/>
                </a:solidFill>
                <a:latin typeface="Aptos"/>
              </a:rPr>
              <a:t>1  USER RETENTION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1" y="1764792"/>
            <a:ext cx="3200400" cy="26776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3282D"/>
                </a:solidFill>
                <a:latin typeface="Aptos"/>
              </a:rPr>
              <a:t>Concern
• 26 users have no posts
• 23 users never liked any post
• 13 users have zero recorded activity
Strategy
• Low-friction reactivation prompts
• Personalized content reminders
• Limited-time challenges used carefully
• Track reactivation, repeat activity and retention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234440"/>
            <a:ext cx="3520440" cy="4526280"/>
          </a:xfrm>
          <a:prstGeom prst="roundRect">
            <a:avLst/>
          </a:prstGeom>
          <a:solidFill>
            <a:srgbClr val="F4F7F9"/>
          </a:solidFill>
          <a:ln>
            <a:solidFill>
              <a:srgbClr val="D7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9" name="Rectangle 8"/>
          <p:cNvSpPr/>
          <p:nvPr/>
        </p:nvSpPr>
        <p:spPr>
          <a:xfrm>
            <a:off x="4343400" y="1234440"/>
            <a:ext cx="64008" cy="4526280"/>
          </a:xfrm>
          <a:prstGeom prst="rect">
            <a:avLst/>
          </a:prstGeom>
          <a:solidFill>
            <a:srgbClr val="2A8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" name="TextBox 9"/>
          <p:cNvSpPr txBox="1"/>
          <p:nvPr/>
        </p:nvSpPr>
        <p:spPr>
          <a:xfrm>
            <a:off x="4507992" y="1380744"/>
            <a:ext cx="32004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A825A"/>
                </a:solidFill>
                <a:latin typeface="Aptos"/>
              </a:rPr>
              <a:t>2  ENGAGEMENT &amp; CONTENT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07992" y="1764792"/>
            <a:ext cx="3200400" cy="31085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3282D"/>
                </a:solidFill>
                <a:latin typeface="Aptos"/>
              </a:rPr>
              <a:t>Concern
• 31 users have no tag usage
• Average tags/post = 1.95
• High-performing themes are close together
Strategy
• Promote tagging education
• Test themes such as dreamy, beauty and stunning
• Use polls, prompts and community challenges
• Measure engagement lift, not just participation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234440"/>
            <a:ext cx="3520440" cy="4526280"/>
          </a:xfrm>
          <a:prstGeom prst="roundRect">
            <a:avLst/>
          </a:prstGeom>
          <a:solidFill>
            <a:srgbClr val="F4F7F9"/>
          </a:solidFill>
          <a:ln>
            <a:solidFill>
              <a:srgbClr val="D7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3" name="Rectangle 12"/>
          <p:cNvSpPr/>
          <p:nvPr/>
        </p:nvSpPr>
        <p:spPr>
          <a:xfrm>
            <a:off x="8046720" y="1234440"/>
            <a:ext cx="64008" cy="4526280"/>
          </a:xfrm>
          <a:prstGeom prst="rect">
            <a:avLst/>
          </a:prstGeom>
          <a:solidFill>
            <a:srgbClr val="183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4" name="TextBox 13"/>
          <p:cNvSpPr txBox="1"/>
          <p:nvPr/>
        </p:nvSpPr>
        <p:spPr>
          <a:xfrm>
            <a:off x="8211312" y="1380744"/>
            <a:ext cx="32004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83F66"/>
                </a:solidFill>
                <a:latin typeface="Aptos"/>
              </a:rPr>
              <a:t>3  CREATOR &amp; ACQUISITION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11312" y="1764792"/>
            <a:ext cx="3200400" cy="26776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3282D"/>
                </a:solidFill>
                <a:latin typeface="Aptos"/>
              </a:rPr>
              <a:t>Opportunity
• Top total engagement = 749
• Top average engagement/post = 75
• Highest follower level = 77
Strategy
• Shortlist creators using reach + engagement
• Reward consistent contributors
• Build creator / ambassador programs
• Validate audience fit before partnership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18520" y="6473952"/>
            <a:ext cx="50292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F6973"/>
                </a:solidFill>
                <a:latin typeface="Aptos"/>
              </a:rPr>
              <a:t>22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92608"/>
            <a:ext cx="1106424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algn="ctr">
              <a:defRPr sz="2500" b="1" u="sng">
                <a:solidFill>
                  <a:srgbClr val="C00000"/>
                </a:solidFill>
                <a:latin typeface="Aptos"/>
              </a:defRPr>
            </a:lvl1pPr>
          </a:lstStyle>
          <a:p>
            <a:r>
              <a:rPr dirty="0"/>
              <a:t>ACTION PLAN &amp; SUCCESS MEASURES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" y="1234440"/>
            <a:ext cx="10954512" cy="722376"/>
          </a:xfrm>
          <a:prstGeom prst="roundRect">
            <a:avLst/>
          </a:prstGeom>
          <a:solidFill>
            <a:srgbClr val="F5F7F9"/>
          </a:solidFill>
          <a:ln>
            <a:solidFill>
              <a:srgbClr val="D7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21792" y="1234440"/>
            <a:ext cx="50292" cy="722376"/>
          </a:xfrm>
          <a:prstGeom prst="rect">
            <a:avLst/>
          </a:prstGeom>
          <a:solidFill>
            <a:srgbClr val="007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8" y="1344168"/>
            <a:ext cx="502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7E96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325880"/>
            <a:ext cx="15087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1">
                <a:solidFill>
                  <a:srgbClr val="204369"/>
                </a:solidFill>
                <a:latin typeface="Aptos"/>
              </a:rPr>
              <a:t>RETENTION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61488" y="1307592"/>
            <a:ext cx="525780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2D3237"/>
                </a:solidFill>
                <a:latin typeface="Aptos"/>
              </a:rPr>
              <a:t>Re-engage the 26 users with no posts and the 23 users who never liked a post.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11312" y="1307592"/>
            <a:ext cx="306324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46C74"/>
                </a:solidFill>
                <a:latin typeface="Aptos"/>
              </a:rPr>
              <a:t>Measure: reactivation + repeat activity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2057400"/>
            <a:ext cx="10954512" cy="722376"/>
          </a:xfrm>
          <a:prstGeom prst="roundRect">
            <a:avLst/>
          </a:prstGeom>
          <a:solidFill>
            <a:srgbClr val="F5F7F9"/>
          </a:solidFill>
          <a:ln>
            <a:solidFill>
              <a:srgbClr val="D7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" y="2057400"/>
            <a:ext cx="50292" cy="722376"/>
          </a:xfrm>
          <a:prstGeom prst="rect">
            <a:avLst/>
          </a:prstGeom>
          <a:solidFill>
            <a:srgbClr val="2C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1248" y="2167128"/>
            <a:ext cx="502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C845B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148840"/>
            <a:ext cx="15087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1">
                <a:solidFill>
                  <a:srgbClr val="204369"/>
                </a:solidFill>
                <a:latin typeface="Aptos"/>
              </a:rPr>
              <a:t>ENGAGEMENT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61488" y="2130552"/>
            <a:ext cx="525780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2D3237"/>
                </a:solidFill>
                <a:latin typeface="Aptos"/>
              </a:rPr>
              <a:t>Use tagging prompts, polls and simple participation challenges to move low/moderate users upward.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11312" y="2130552"/>
            <a:ext cx="306324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46C74"/>
                </a:solidFill>
                <a:latin typeface="Aptos"/>
              </a:rPr>
              <a:t>Measure: engagement per active user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" y="2880360"/>
            <a:ext cx="10954512" cy="722376"/>
          </a:xfrm>
          <a:prstGeom prst="roundRect">
            <a:avLst/>
          </a:prstGeom>
          <a:solidFill>
            <a:srgbClr val="F5F7F9"/>
          </a:solidFill>
          <a:ln>
            <a:solidFill>
              <a:srgbClr val="D7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1792" y="2880360"/>
            <a:ext cx="50292" cy="722376"/>
          </a:xfrm>
          <a:prstGeom prst="rect">
            <a:avLst/>
          </a:prstGeom>
          <a:solidFill>
            <a:srgbClr val="2043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1248" y="2990088"/>
            <a:ext cx="502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04369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2971800"/>
            <a:ext cx="15087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1">
                <a:solidFill>
                  <a:srgbClr val="204369"/>
                </a:solidFill>
                <a:latin typeface="Aptos"/>
              </a:rPr>
              <a:t>CREATOR PROGRAM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61488" y="2953512"/>
            <a:ext cx="525780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2D3237"/>
                </a:solidFill>
                <a:latin typeface="Aptos"/>
              </a:rPr>
              <a:t>Shortlist creators using follower reach together with total engagement and engagement efficiency.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11312" y="2953512"/>
            <a:ext cx="306324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46C74"/>
                </a:solidFill>
                <a:latin typeface="Aptos"/>
              </a:rPr>
              <a:t>Measure: creator participation + engagement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" y="3703320"/>
            <a:ext cx="10954512" cy="722376"/>
          </a:xfrm>
          <a:prstGeom prst="roundRect">
            <a:avLst/>
          </a:prstGeom>
          <a:solidFill>
            <a:srgbClr val="F5F7F9"/>
          </a:solidFill>
          <a:ln>
            <a:solidFill>
              <a:srgbClr val="D7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1792" y="3703320"/>
            <a:ext cx="50292" cy="722376"/>
          </a:xfrm>
          <a:prstGeom prst="rect">
            <a:avLst/>
          </a:prstGeom>
          <a:solidFill>
            <a:srgbClr val="2C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41248" y="3813048"/>
            <a:ext cx="502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C845B"/>
                </a:solidFill>
                <a:latin typeface="Aptos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25880" y="3794759"/>
            <a:ext cx="15087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1">
                <a:solidFill>
                  <a:srgbClr val="204369"/>
                </a:solidFill>
                <a:latin typeface="Aptos"/>
              </a:rPr>
              <a:t>CONTENT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61488" y="3776472"/>
            <a:ext cx="525780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2D3237"/>
                </a:solidFill>
                <a:latin typeface="Aptos"/>
              </a:rPr>
              <a:t>Test themes associated with higher average likes, such as dreamy, beauty and stunning.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11312" y="3776472"/>
            <a:ext cx="306324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46C74"/>
                </a:solidFill>
                <a:latin typeface="Aptos"/>
              </a:rPr>
              <a:t>Measure: average likes / post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" y="4526280"/>
            <a:ext cx="10954512" cy="722376"/>
          </a:xfrm>
          <a:prstGeom prst="roundRect">
            <a:avLst/>
          </a:prstGeom>
          <a:solidFill>
            <a:srgbClr val="F5F7F9"/>
          </a:solidFill>
          <a:ln>
            <a:solidFill>
              <a:srgbClr val="D7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21792" y="4526280"/>
            <a:ext cx="50292" cy="722376"/>
          </a:xfrm>
          <a:prstGeom prst="rect">
            <a:avLst/>
          </a:prstGeom>
          <a:solidFill>
            <a:srgbClr val="007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1248" y="4636008"/>
            <a:ext cx="502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7E96"/>
                </a:solidFill>
                <a:latin typeface="Aptos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25880" y="4617720"/>
            <a:ext cx="15087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1">
                <a:solidFill>
                  <a:srgbClr val="204369"/>
                </a:solidFill>
                <a:latin typeface="Aptos"/>
              </a:rPr>
              <a:t>ACQUISITION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61488" y="4599432"/>
            <a:ext cx="525780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2D3237"/>
                </a:solidFill>
                <a:latin typeface="Aptos"/>
              </a:rPr>
              <a:t>Use creator partnerships, referrals and improved onboarding to attract and activate new users.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11312" y="4599432"/>
            <a:ext cx="306324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46C74"/>
                </a:solidFill>
                <a:latin typeface="Aptos"/>
              </a:rPr>
              <a:t>Measure: new-user activation + retention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" y="5349240"/>
            <a:ext cx="10954512" cy="722376"/>
          </a:xfrm>
          <a:prstGeom prst="roundRect">
            <a:avLst/>
          </a:prstGeom>
          <a:solidFill>
            <a:srgbClr val="F5F7F9"/>
          </a:solidFill>
          <a:ln>
            <a:solidFill>
              <a:srgbClr val="D7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21792" y="5349240"/>
            <a:ext cx="50292" cy="722376"/>
          </a:xfrm>
          <a:prstGeom prst="rect">
            <a:avLst/>
          </a:prstGeom>
          <a:solidFill>
            <a:srgbClr val="2043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41248" y="5458968"/>
            <a:ext cx="502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04369"/>
                </a:solidFill>
                <a:latin typeface="Aptos"/>
              </a:rPr>
              <a:t>06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25880" y="5440679"/>
            <a:ext cx="15087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1">
                <a:solidFill>
                  <a:srgbClr val="204369"/>
                </a:solidFill>
                <a:latin typeface="Aptos"/>
              </a:rPr>
              <a:t>MEASUREMENT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61488" y="5422392"/>
            <a:ext cx="525780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2D3237"/>
                </a:solidFill>
                <a:latin typeface="Aptos"/>
              </a:rPr>
              <a:t>Establish a baseline before each intervention and compare results after implementation.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11312" y="5422392"/>
            <a:ext cx="306324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46C74"/>
                </a:solidFill>
                <a:latin typeface="Aptos"/>
              </a:rPr>
              <a:t>Measure: lift vs baseline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511047" y="256032"/>
            <a:ext cx="9359011" cy="4770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algn="ctr">
              <a:defRPr sz="2500" b="1" u="sng">
                <a:solidFill>
                  <a:srgbClr val="C00000"/>
                </a:solidFill>
                <a:latin typeface="Aptos"/>
              </a:defRPr>
            </a:lvl1pPr>
          </a:lstStyle>
          <a:p>
            <a:r>
              <a:rPr lang="en-IN" dirty="0"/>
              <a:t>DATA LIMITATIONS </a:t>
            </a:r>
            <a:r>
              <a:rPr dirty="0"/>
              <a:t>| </a:t>
            </a:r>
            <a:r>
              <a:rPr sz="2000" i="1" dirty="0"/>
              <a:t>what management should not over-interpret</a:t>
            </a:r>
            <a:endParaRPr i="1" dirty="0"/>
          </a:p>
        </p:txBody>
      </p:sp>
      <p:sp>
        <p:nvSpPr>
          <p:cNvPr id="4" name="Rounded Rectangle 3"/>
          <p:cNvSpPr/>
          <p:nvPr/>
        </p:nvSpPr>
        <p:spPr>
          <a:xfrm>
            <a:off x="777240" y="1143000"/>
            <a:ext cx="10561320" cy="621792"/>
          </a:xfrm>
          <a:prstGeom prst="roundRect">
            <a:avLst/>
          </a:prstGeom>
          <a:solidFill>
            <a:srgbClr val="F5F7FA"/>
          </a:solidFill>
          <a:ln>
            <a:solidFill>
              <a:srgbClr val="E1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>
                <a:solidFill>
                  <a:srgbClr val="232830"/>
                </a:solidFill>
                <a:latin typeface="Aptos"/>
              </a:defRPr>
            </a:pPr>
            <a:r>
              <a:rPr sz="1400"/>
              <a:t>No shares table — Q11 uses likes + comments only.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143000"/>
            <a:ext cx="54864" cy="621792"/>
          </a:xfrm>
          <a:prstGeom prst="rect">
            <a:avLst/>
          </a:prstGeom>
          <a:solidFill>
            <a:srgbClr val="BE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6" name="Rounded Rectangle 5"/>
          <p:cNvSpPr/>
          <p:nvPr/>
        </p:nvSpPr>
        <p:spPr>
          <a:xfrm>
            <a:off x="777240" y="2011680"/>
            <a:ext cx="10561320" cy="621792"/>
          </a:xfrm>
          <a:prstGeom prst="roundRect">
            <a:avLst/>
          </a:prstGeom>
          <a:solidFill>
            <a:srgbClr val="F5F7FA"/>
          </a:solidFill>
          <a:ln>
            <a:solidFill>
              <a:srgbClr val="E1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>
                <a:solidFill>
                  <a:srgbClr val="232830"/>
                </a:solidFill>
                <a:latin typeface="Aptos"/>
              </a:defRPr>
            </a:pPr>
            <a:r>
              <a:rPr sz="1400"/>
              <a:t>No content-type field — Cannot compare photos vs videos vs reels.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011680"/>
            <a:ext cx="54864" cy="621792"/>
          </a:xfrm>
          <a:prstGeom prst="rect">
            <a:avLst/>
          </a:prstGeom>
          <a:solidFill>
            <a:srgbClr val="BE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8" name="Rounded Rectangle 7"/>
          <p:cNvSpPr/>
          <p:nvPr/>
        </p:nvSpPr>
        <p:spPr>
          <a:xfrm>
            <a:off x="777240" y="2880360"/>
            <a:ext cx="10561320" cy="621792"/>
          </a:xfrm>
          <a:prstGeom prst="roundRect">
            <a:avLst/>
          </a:prstGeom>
          <a:solidFill>
            <a:srgbClr val="F5F7FA"/>
          </a:solidFill>
          <a:ln>
            <a:solidFill>
              <a:srgbClr val="E1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>
                <a:solidFill>
                  <a:srgbClr val="232830"/>
                </a:solidFill>
                <a:latin typeface="Aptos"/>
              </a:defRPr>
            </a:pPr>
            <a:r>
              <a:rPr sz="1400"/>
              <a:t>No age / gender / location — No reliable demographic targeting analysis.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880360"/>
            <a:ext cx="54864" cy="621792"/>
          </a:xfrm>
          <a:prstGeom prst="rect">
            <a:avLst/>
          </a:prstGeom>
          <a:solidFill>
            <a:srgbClr val="BE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" name="Rounded Rectangle 9"/>
          <p:cNvSpPr/>
          <p:nvPr/>
        </p:nvSpPr>
        <p:spPr>
          <a:xfrm>
            <a:off x="777240" y="3749039"/>
            <a:ext cx="10561320" cy="621792"/>
          </a:xfrm>
          <a:prstGeom prst="roundRect">
            <a:avLst/>
          </a:prstGeom>
          <a:solidFill>
            <a:srgbClr val="F5F7FA"/>
          </a:solidFill>
          <a:ln>
            <a:solidFill>
              <a:srgbClr val="E1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>
                <a:solidFill>
                  <a:srgbClr val="232830"/>
                </a:solidFill>
                <a:latin typeface="Aptos"/>
              </a:defRPr>
            </a:pPr>
            <a:r>
              <a:rPr sz="1400"/>
              <a:t>Default interaction timestamps — Historical monthly / time-of-day trends are unreliable.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749039"/>
            <a:ext cx="54864" cy="621792"/>
          </a:xfrm>
          <a:prstGeom prst="rect">
            <a:avLst/>
          </a:prstGeom>
          <a:solidFill>
            <a:srgbClr val="BE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" name="Rounded Rectangle 11"/>
          <p:cNvSpPr/>
          <p:nvPr/>
        </p:nvSpPr>
        <p:spPr>
          <a:xfrm>
            <a:off x="777240" y="4617720"/>
            <a:ext cx="10561320" cy="621792"/>
          </a:xfrm>
          <a:prstGeom prst="roundRect">
            <a:avLst/>
          </a:prstGeom>
          <a:solidFill>
            <a:srgbClr val="F5F7FA"/>
          </a:solidFill>
          <a:ln>
            <a:solidFill>
              <a:srgbClr val="E1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>
                <a:solidFill>
                  <a:srgbClr val="232830"/>
                </a:solidFill>
                <a:latin typeface="Aptos"/>
              </a:defRPr>
            </a:pPr>
            <a:r>
              <a:rPr sz="1400"/>
              <a:t>Photo timestamp limitation — Posting-time conclusions are unreliable with the supplied created_dat field.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4617720"/>
            <a:ext cx="54864" cy="621792"/>
          </a:xfrm>
          <a:prstGeom prst="rect">
            <a:avLst/>
          </a:prstGeom>
          <a:solidFill>
            <a:srgbClr val="BE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92608"/>
            <a:ext cx="1106424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algn="ctr">
              <a:defRPr sz="2500" b="1" u="sng">
                <a:solidFill>
                  <a:srgbClr val="C00000"/>
                </a:solidFill>
                <a:latin typeface="Aptos"/>
              </a:defRPr>
            </a:lvl1pPr>
          </a:lstStyle>
          <a:p>
            <a:r>
              <a:rPr dirty="0"/>
              <a:t>CONCLUSION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353312"/>
            <a:ext cx="2971800" cy="2212848"/>
          </a:xfrm>
          <a:prstGeom prst="roundRect">
            <a:avLst/>
          </a:prstGeom>
          <a:solidFill>
            <a:srgbClr val="F5F7F9"/>
          </a:solidFill>
          <a:ln>
            <a:solidFill>
              <a:srgbClr val="D7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" name="TextBox 4"/>
          <p:cNvSpPr txBox="1"/>
          <p:nvPr/>
        </p:nvSpPr>
        <p:spPr>
          <a:xfrm>
            <a:off x="841247" y="1536192"/>
            <a:ext cx="50292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07E96"/>
                </a:solidFill>
                <a:latin typeface="Apto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5295" y="1508760"/>
            <a:ext cx="2176272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07E96"/>
                </a:solidFill>
                <a:latin typeface="Aptos"/>
              </a:rPr>
              <a:t>RETENTION OPPORTUNITY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" y="2011680"/>
            <a:ext cx="2560320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04369"/>
                </a:solidFill>
                <a:latin typeface="Aptos"/>
              </a:rPr>
              <a:t>26 users have no posts and 23 have never liked a post.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816352"/>
            <a:ext cx="256032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D3237"/>
                </a:solidFill>
                <a:latin typeface="Aptos"/>
              </a:rPr>
              <a:t>The clearest immediate opportunity is targeted re-engagement.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05072" y="1353312"/>
            <a:ext cx="3330676" cy="2212848"/>
          </a:xfrm>
          <a:prstGeom prst="roundRect">
            <a:avLst/>
          </a:prstGeom>
          <a:solidFill>
            <a:srgbClr val="F5F7F9"/>
          </a:solidFill>
          <a:ln>
            <a:solidFill>
              <a:srgbClr val="D7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0" name="TextBox 9"/>
          <p:cNvSpPr txBox="1"/>
          <p:nvPr/>
        </p:nvSpPr>
        <p:spPr>
          <a:xfrm>
            <a:off x="4187952" y="1536192"/>
            <a:ext cx="50292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C845B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508760"/>
            <a:ext cx="2176272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C845B"/>
                </a:solidFill>
                <a:latin typeface="Aptos"/>
              </a:rPr>
              <a:t>ENGAGEMENT &amp; CREATORS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2011680"/>
            <a:ext cx="2935224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204369"/>
                </a:solidFill>
                <a:latin typeface="Aptos"/>
              </a:rPr>
              <a:t>Top total engagement is 749; top average engagement is 75 per post.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2816352"/>
            <a:ext cx="2560320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D3237"/>
                </a:solidFill>
                <a:latin typeface="Aptos"/>
              </a:rPr>
              <a:t>Use reach + engagement together to identify valuable creators and users.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19796" y="1353312"/>
            <a:ext cx="2971800" cy="2212848"/>
          </a:xfrm>
          <a:prstGeom prst="roundRect">
            <a:avLst/>
          </a:prstGeom>
          <a:solidFill>
            <a:srgbClr val="F5F7F9"/>
          </a:solidFill>
          <a:ln>
            <a:solidFill>
              <a:srgbClr val="D7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5" name="TextBox 14"/>
          <p:cNvSpPr txBox="1"/>
          <p:nvPr/>
        </p:nvSpPr>
        <p:spPr>
          <a:xfrm>
            <a:off x="7902676" y="1536192"/>
            <a:ext cx="50292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04369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86724" y="1508760"/>
            <a:ext cx="2176272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04369"/>
                </a:solidFill>
                <a:latin typeface="Aptos"/>
              </a:rPr>
              <a:t>CONTENT +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20965" y="2011680"/>
            <a:ext cx="2560320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04369"/>
                </a:solidFill>
                <a:latin typeface="Aptos"/>
              </a:rPr>
              <a:t>Dreamy leads the hashtag signal at 35.75 average likes.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20965" y="2816352"/>
            <a:ext cx="2560320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D3237"/>
                </a:solidFill>
                <a:latin typeface="Aptos"/>
              </a:rPr>
              <a:t>Use content themes for experimentation, while improving missing data for deeper analysis.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977639"/>
            <a:ext cx="10844784" cy="1024128"/>
          </a:xfrm>
          <a:prstGeom prst="roundRect">
            <a:avLst/>
          </a:prstGeom>
          <a:solidFill>
            <a:srgbClr val="F5F7F9"/>
          </a:solidFill>
          <a:ln>
            <a:solidFill>
              <a:srgbClr val="D7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1" name="TextBox 20"/>
          <p:cNvSpPr txBox="1"/>
          <p:nvPr/>
        </p:nvSpPr>
        <p:spPr>
          <a:xfrm>
            <a:off x="859536" y="4185500"/>
            <a:ext cx="10268712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dirty="0">
                <a:solidFill>
                  <a:srgbClr val="2D3237"/>
                </a:solidFill>
                <a:latin typeface="Aptos"/>
              </a:rPr>
              <a:t>Use the current data to target retention, engagement and creator actions — and improve the data foundation before making deeper historical or demographic decisions.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358384"/>
            <a:ext cx="1069848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204369"/>
                </a:solidFill>
                <a:latin typeface="Aptos"/>
              </a:rPr>
              <a:t>Success should be visible in: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715000"/>
            <a:ext cx="1056132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2D3237"/>
                </a:solidFill>
                <a:latin typeface="Aptos"/>
              </a:rPr>
              <a:t>Reactivated users  •  Repeat activity  •  Engagement per post  •  Creator participation  •  Retention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789" y="-574143"/>
            <a:ext cx="12191999" cy="50292"/>
          </a:xfrm>
          <a:prstGeom prst="rect">
            <a:avLst/>
          </a:prstGeom>
          <a:solidFill>
            <a:srgbClr val="237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3" name="TextBox 2"/>
          <p:cNvSpPr txBox="1"/>
          <p:nvPr/>
        </p:nvSpPr>
        <p:spPr>
          <a:xfrm>
            <a:off x="4200555" y="1994868"/>
            <a:ext cx="4190764" cy="1015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232B34"/>
                </a:solidFill>
                <a:latin typeface="Aptos Display"/>
              </a:defRPr>
            </a:pPr>
            <a:r>
              <a:rPr sz="6000"/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39262" y="3029004"/>
            <a:ext cx="351335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237BA0"/>
                </a:solidFill>
                <a:latin typeface="Aptos"/>
              </a:defRPr>
            </a:pPr>
            <a:r>
              <a:rPr dirty="0"/>
              <a:t>Social Media Analysis | SQL </a:t>
            </a:r>
          </a:p>
        </p:txBody>
      </p:sp>
      <p:sp>
        <p:nvSpPr>
          <p:cNvPr id="5" name="Rounded Rectangle 3">
            <a:extLst>
              <a:ext uri="{FF2B5EF4-FFF2-40B4-BE49-F238E27FC236}">
                <a16:creationId xmlns:a16="http://schemas.microsoft.com/office/drawing/2014/main" id="{02FA08DB-89A5-40D3-0904-0F4D1ABAE590}"/>
              </a:ext>
            </a:extLst>
          </p:cNvPr>
          <p:cNvSpPr/>
          <p:nvPr/>
        </p:nvSpPr>
        <p:spPr>
          <a:xfrm>
            <a:off x="788586" y="5554307"/>
            <a:ext cx="2961482" cy="517720"/>
          </a:xfrm>
          <a:prstGeom prst="roundRect">
            <a:avLst/>
          </a:prstGeom>
          <a:solidFill>
            <a:srgbClr val="F5F7FA"/>
          </a:solidFill>
          <a:ln>
            <a:solidFill>
              <a:srgbClr val="E1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300">
                <a:solidFill>
                  <a:srgbClr val="232830"/>
                </a:solidFill>
                <a:latin typeface="Aptos"/>
              </a:defRPr>
            </a:pPr>
            <a:r>
              <a:rPr lang="en-US" sz="1400" dirty="0"/>
              <a:t>Submitted By: Hiteshi Aglawe</a:t>
            </a:r>
            <a:endParaRPr sz="14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00F7F6E-833F-67FB-3093-B5DC8AFCD6C7}"/>
              </a:ext>
            </a:extLst>
          </p:cNvPr>
          <p:cNvSpPr/>
          <p:nvPr/>
        </p:nvSpPr>
        <p:spPr>
          <a:xfrm>
            <a:off x="788586" y="5554307"/>
            <a:ext cx="45719" cy="517720"/>
          </a:xfrm>
          <a:prstGeom prst="rect">
            <a:avLst/>
          </a:prstGeom>
          <a:solidFill>
            <a:srgbClr val="1F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1973</TotalTime>
  <Words>1450</Words>
  <Application>Microsoft Office PowerPoint</Application>
  <PresentationFormat>Widescreen</PresentationFormat>
  <Paragraphs>218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Aptos</vt:lpstr>
      <vt:lpstr>Aptos Display</vt:lpstr>
      <vt:lpstr>Arial</vt:lpstr>
      <vt:lpstr>Calibri</vt:lpstr>
      <vt:lpstr>Courier New</vt:lpstr>
      <vt:lpstr>Play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Hiteshi Aglawe</cp:lastModifiedBy>
  <cp:revision>12</cp:revision>
  <dcterms:created xsi:type="dcterms:W3CDTF">2013-01-27T09:14:16Z</dcterms:created>
  <dcterms:modified xsi:type="dcterms:W3CDTF">2026-09-12T12:32:35Z</dcterms:modified>
  <cp:category/>
</cp:coreProperties>
</file>